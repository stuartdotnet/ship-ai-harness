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start talking for three seconds. Let the title sit.</a:t>
            </a:r>
          </a:p>
          <a:p/>
          <a:p>
            <a:r>
              <a:t>Open: 'I built a starship AI on the Microsoft agent harness. It is genuinely good at its job. It also spent two weeks telling me it was cooling a reactor it cannot touch.'</a:t>
            </a:r>
          </a:p>
          <a:p/>
          <a:p>
            <a:r>
              <a:t>'Two halves tonight. First half: the code — how you actually stand one of these up, and what the framework does for you. Second half: the two failures that changed how I design them.'</a:t>
            </a:r>
          </a:p>
          <a:p/>
          <a:p>
            <a:r>
              <a:t>Housekeeping: two live demos, repo link at the end, questions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 THIS SLIDE. Day job, company, how long, why you care about agents specifically. Thirty seconds, not more — they came for the ship.</a:t>
            </a:r>
          </a:p>
          <a:p/>
          <a:p>
            <a:r>
              <a:t>The one line that must survive: 'everything on screen is in the repo and it runs.' It buys you credibility for the whole code 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captain's HUD. Walk it, top to bottom, about forty seconds.</a:t>
            </a:r>
          </a:p>
          <a:p/>
          <a:p>
            <a:r>
              <a:t>'Hull 86. Reactor heat 30 — that climbs if you over-allocate power. Power: 88% of the reactor spoken for across five systems, so there is 12% spare and every decision costs something. Six pressurised compartments. Section C is venting — 70 and falling thirty a turn.'</a:t>
            </a:r>
          </a:p>
          <a:p/>
          <a:p>
            <a:r>
              <a:t>'And the crew. Eight of them, they have names, and they are standing somewhere. Tanaka, Halloran, Bhatt are in Section C. REMEMBER THOSE THREE.'</a:t>
            </a:r>
          </a:p>
          <a:p/>
          <a:p>
            <a:r>
              <a:t>'One contact on the plot. We will meet her in a minute.'</a:t>
            </a:r>
          </a:p>
          <a:p/>
          <a:p>
            <a:r>
              <a:t>Do NOT explain the architecture yet. This is the world; the code is act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why the domain is silly — it is a deliberate choice, not a gimmick.</a:t>
            </a:r>
          </a:p>
          <a:p/>
          <a:p>
            <a:r>
              <a:t>I needed a domain where the world moves on its own, where refusing tells you something, where the blast radius of different actions is genuinely different, and where I can run the same thing twice and get the same answer.</a:t>
            </a:r>
          </a:p>
          <a:p/>
          <a:p>
            <a:r>
              <a:t>The first bullet matters most — it is the second failure in this talk, and every business agent has it too. Your ticket got reassigned. Your invoice got paid. The agent does not know.</a:t>
            </a:r>
          </a:p>
          <a:p/>
          <a:p>
            <a:r>
              <a:t>Land the last line, then move.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1 — four minutes, three orders, then stop.</a:t>
            </a:r>
          </a:p>
          <a:p/>
          <a:p>
            <a:r>
              <a:t>1. The panel. T000, alert GREEN, 8/8 crew, nothing on the plot.</a:t>
            </a:r>
          </a:p>
          <a:p>
            <a:r>
              <a:t>2. 'sweep the sector and tell me what's out there' — watch ScanSector stream, then the answer, then the tick: the panel redraws at T001.</a:t>
            </a:r>
          </a:p>
          <a:p>
            <a:r>
              <a:t>3. Turn 2 fires and the freighter resolves. If it has not landed, ask 'anything on the beacon?' to burn a turn.</a:t>
            </a:r>
          </a:p>
          <a:p>
            <a:r>
              <a:t>4. 'analyse C-1' — READ THE LAST TWO CLAUSES OUT LOUD YOURSELF, SLOWLY, THEN PAUSE.</a:t>
            </a:r>
          </a:p>
          <a:p>
            <a:r>
              <a:t>5. 'who's aboard, and where is everyone stationed?'</a:t>
            </a:r>
          </a:p>
          <a:p/>
          <a:p>
            <a:r>
              <a:t>Do not improvise a fourth order. LEAVE THE PROCESS RUNNING — demo 2 uses the same session.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demo 1 — the real opening panel, seed 1701, captured not mocked.</a:t>
            </a:r>
          </a:p>
          <a:p/>
          <a:p>
            <a:r>
              <a:t>If the network died: 'and this is why every one of these slides carries the transcript.'</a:t>
            </a:r>
          </a:p>
          <a:p/>
          <a:p>
            <a:r>
              <a:t>Point at T000, alert GREEN, and the empty contacts block. The sector is quiet on the opening turn. It does not stay that 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Twelve minutes of actual code.</a:t>
            </a:r>
          </a:p>
          <a:p/>
          <a:p>
            <a:r>
              <a:t>'That took eighty lines of console and about two hundred lines of agent wiring. I am going to show you all of it, because the interesting part of this talk is the part where it goes wrong, and none of that makes sense unless you know what the harness is doing for you.'</a:t>
            </a:r>
          </a:p>
          <a:p/>
          <a:p>
            <a:r>
              <a:t>Pace: roughly a minute a slide. Do not read the code aloud line by line — point at the two or three lines on each slide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half of the room who have not built an agent.</a:t>
            </a:r>
          </a:p>
          <a:p/>
          <a:p>
            <a:r>
              <a:t>'The model cannot do anything. It can only ask. Something has to take "please call ScanSector" and actually call ScanSector, then hand the result back and ask again. That loop is the harness.'</a:t>
            </a:r>
          </a:p>
          <a:p/>
          <a:p>
            <a:r>
              <a:t>'You can write that loop yourself in an afternoon. What you get from a harness is the sixty things around it you have not thought about yet — and that is both the pitch and the problem.'</a:t>
            </a:r>
          </a:p>
          <a:p/>
          <a:p>
            <a:r>
              <a:t>Flag ahead: 'batteries included is a great line until you find out which batteries are already wired in. Twenty minutes from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arrows only point one way.</a:t>
            </a:r>
          </a:p>
          <a:p/>
          <a:p>
            <a:r>
              <a:t>THE PUNCHLINE IS THE BOTTOM BOX: ShipAI.Simulation has no PackageReference at all. Not the Agent Framework, not Microsoft.Extensions.AI, nothing. Base class library only.</a:t>
            </a:r>
          </a:p>
          <a:p/>
          <a:p>
            <a:r>
              <a:t>'The harness is an adapter over a domain, never the domain itself. That single decision is why 38 tests run in under half a second with no model in the loop — and it is the last slide of this talk, so hold onto it.'</a:t>
            </a:r>
          </a:p>
          <a:p/>
          <a:p>
            <a:r>
              <a:t>Also mention ChatClientFactory in one line: AsHarnessAgent is an extension method on IChatClient, so the model provider is one method's return value. Azure OpenAI here; Anthropic, OpenAI, local — nothing downstream notices.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entire boot. No DI container, no startup class — top-level statements in Program.cs.'</a:t>
            </a:r>
          </a:p>
          <a:p/>
          <a:p>
            <a:r>
              <a:t>Point at the seed: 'everything in this deck is seed 1701. Same scenario plus same seed gives the same voyage, which is why the screenshots are real and not mocked.'</a:t>
            </a:r>
          </a:p>
          <a:p/>
          <a:p>
            <a:r>
              <a:t>Point at CreateSessionAsync: 'a session is the conversation thread. The harness owns the history; I never build a message list by hand.'</a:t>
            </a:r>
          </a:p>
          <a:p/>
          <a:p>
            <a:r>
              <a:t>Point at the last line: 'AURORA opens the conversation rather than waiting mutely. It is a stage direction — it does not go in the log and it does not advance the clock, so the captain's first real order still lands at T000.'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 Read an order, run a turn, advance the world, redraw.</a:t>
            </a:r>
          </a:p>
          <a:p/>
          <a:p>
            <a:r>
              <a:t>Point at the comment: 'one tick per completed agent turn. Not a timer. The world moves when the agent acts.'</a:t>
            </a:r>
          </a:p>
          <a:p/>
          <a:p>
            <a:r>
              <a:t>Then the honest bit: 'the tick lives in the console here because in milestone 1 there is nothing else to put it in. That is a smell — advancing the world is not the terminal's job. Milestone 2 moves this line into the context provider, and that is the second half of this talk.'</a:t>
            </a:r>
          </a:p>
          <a:p/>
          <a:p>
            <a:r>
              <a:t>Point at Log.Since(mark): 'scenario events get narrated to the captain here. Remember that — it matters in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of an agent turn. Eleven lines.'</a:t>
            </a:r>
          </a:p>
          <a:p/>
          <a:p>
            <a:r>
              <a:t>'You get an async stream of updates. Each one carries content — some of it is text to print, some of it is the model telling you it called a tool.'</a:t>
            </a:r>
          </a:p>
          <a:p/>
          <a:p>
            <a:r>
              <a:t>Then the Contains: 'I flag which tool calls are the ship's. That is not cosmetic: the harness's own tooling — todos_add, todos_complete, mode_set — comes through this exact channel and looks exactly the same. A naive host renders them identically, and then a transcript full of bookkeeping reads like the agent working.'</a:t>
            </a:r>
          </a:p>
          <a:p/>
          <a:p>
            <a:r>
              <a:t>'Use a prefix or a flag, not a colour — transcripts get piped. There is a test asserting ToolNames matches what is actually registered, because a list like that rots silently.'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in this repo knows the type HarnessAgentOptions. Everything else takes an AIAgent.'</a:t>
            </a:r>
          </a:p>
          <a:p/>
          <a:p>
            <a:r>
              <a:t>The two instruction slots: 'HarnessInstructions is how AURORA operates — constant across every voyage. ChatOptions.Instructions is what THIS voyage is for, and comes from the scenario. The harness concatenates doctrine first, mission second.'</a:t>
            </a:r>
          </a:p>
          <a:p/>
          <a:p>
            <a:r>
              <a:t>Then point at the three Disable lines: 'three of those defaults are ON until you turn them off, and two of them touch your filesystem the moment the agent is CONSTRUCTED — not when it runs. That is the next section.'</a:t>
            </a:r>
          </a:p>
          <a:p/>
          <a:p>
            <a:r>
              <a:t>Point at the two token limits: 'and those two are one decision, not two. Also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is a method. AIFunctionFactory reflects over it and the DescriptionAttribute becomes the schema the model sees.'</a:t>
            </a:r>
          </a:p>
          <a:p/>
          <a:p>
            <a:r>
              <a:t>'Which means that attribute is not a comment. It is the API docs, and it is the only documentation the model will ever read. Mine are long on purpose.'</a:t>
            </a:r>
          </a:p>
          <a:p/>
          <a:p>
            <a:r>
              <a:t>Point at Stamped: 'every reading carries the turn it was taken on. That is here because of a bug I will show you in act four — and I want you to notice now that stamping it was NOT ENOUGH.'</a:t>
            </a:r>
          </a:p>
          <a:p/>
          <a:p>
            <a:r>
              <a:t>If asked about the triple-quoted string: raw string literals, C# 11, no escaping, indentation stripped to the closing quotes.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changes in exactly two places. This is the first: a command.'</a:t>
            </a:r>
          </a:p>
          <a:p/>
          <a:p>
            <a:r>
              <a:t>'Every one of those returns a CommandResult. A refusal is not an exception — it is a result, with a sentence in it that says what the ship actually needs.'</a:t>
            </a:r>
          </a:p>
          <a:p/>
          <a:p>
            <a:r>
              <a:t>'Insufficient reactor output: engines requested 60%, only 25% is unallocated. Reduce another system first. That is a refusal the model can do something with.'</a:t>
            </a:r>
          </a:p>
          <a:p/>
          <a:p>
            <a:r>
              <a:t>Do not spend the punchline here; the second-to-last slide is where it lands. One sentence and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second place the world changes: the clock. Once per completed agent turn.'</a:t>
            </a:r>
          </a:p>
          <a:p/>
          <a:p>
            <a:r>
              <a:t>Walk the four Apply calls at the bottom. 'Breaches bleed thirty a turn. The reactor bakes if you over-allocate and sheds heat if you run lean. Crew in a vacuum die on the next tick. Alert escalates automatically — standing down is a decision, and the next tick puts it back if the conditions are still true.'</a:t>
            </a:r>
          </a:p>
          <a:p/>
          <a:p>
            <a:r>
              <a:t>'A ship that reports GREEN with a compartment venting is worse than no indicator at all, because the captain stops reading it.'</a:t>
            </a:r>
          </a:p>
          <a:p/>
          <a:p>
            <a:r>
              <a:t>THE LINE THAT MATTERS, say it slowly: 'every one of those things happens TO the agent. None of it is told to the agent. The captain sees it on the panel. AURORA does not.'</a:t>
            </a:r>
          </a:p>
          <a:p/>
          <a:p>
            <a:r>
              <a:t>That is the hook for act six. Plant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Do not read the properties out.</a:t>
            </a:r>
          </a:p>
          <a:p/>
          <a:p>
            <a:r>
              <a:t>'One record. Immutable, required init, replaced wholesale by the simulation. Everything else in the system works with a snapshot.'</a:t>
            </a:r>
          </a:p>
          <a:p/>
          <a:p>
            <a:r>
              <a:t>'Which means the panel and the tools can never disagree about what the ship IS. They can only disagree about WHEN THEY LAST LOOKED — and that turns out to be the entire problem.'</a:t>
            </a:r>
          </a:p>
          <a:p/>
          <a:p>
            <a:r>
              <a:t>CrewIn is on the slide for one reason: the approval act. 'Who is standing in the compartment you are about to vent' is a method call, not a vibe.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encounter is data. Turn two the freighter resolves, turn eight a debris strike, turn nine the breach in Section C.'</a:t>
            </a:r>
          </a:p>
          <a:p/>
          <a:p>
            <a:r>
              <a:t>'That analysis string is written, not generated. It is the best writing in the repo and the model just reads it out. Which is the point — the interesting content is authored, the agent is the interface to it.'</a:t>
            </a:r>
          </a:p>
          <a:p/>
          <a:p>
            <a:r>
              <a:t>'Scenario plus seed is a reproducible voyage. A demo, a screenshot, and a code sample in a blog post are all the same run. That is not a nicety — the testing act depends on it.'</a:t>
            </a:r>
          </a:p>
          <a:p/>
          <a:p>
            <a:r>
              <a:t>Point at turn 9: 'the breach you saw on the HUD. It fires whether or not the agent ever looks.'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file. AURORA's operating doctrine — a markdown document, embedded as a resource, loaded once and cached.'</a:t>
            </a:r>
          </a:p>
          <a:p/>
          <a:p>
            <a:r>
              <a:t>'Not a const string in a C# file. You are going to iterate on this thing constantly, and you want a diff that reads like an edit to a document, because that is what it is.'</a:t>
            </a:r>
          </a:p>
          <a:p/>
          <a:p>
            <a:r>
              <a:t>Read the Bearing section out — it is the shortest demonstration of why the voice works. 'Be terse. A bridge is not a place for paragraphs.'</a:t>
            </a:r>
          </a:p>
          <a:p/>
          <a:p>
            <a:r>
              <a:t>Then point at Limits, one line, and say: 'hold on to that heading. The next twenty minutes are about what it took to get that sentence right.'</a:t>
            </a:r>
          </a:p>
          <a:p/>
          <a:p>
            <a:r>
              <a:t>That is the bridge out of the code act. Do not explain it yet.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on defaults. This is the 'batteries included' bill.</a:t>
            </a:r>
          </a:p>
          <a:p/>
          <a:p>
            <a:r>
              <a:t>'Three providers were on before I made a single decision. Two of them write to disk at CONSTRUCTION — not when the agent runs.'</a:t>
            </a:r>
          </a:p>
          <a:p/>
          <a:p>
            <a:r>
              <a:t>Note the FileAccessProvider row: 'the only opt-in one. The absence of a setting IS the setting. I spent twenty minutes looking for DisableFileAccess. It does not exist.'</a:t>
            </a:r>
          </a:p>
          <a:p/>
          <a:p>
            <a:r>
              <a:t>And the TodoProvider row is the one I kept — free damage-control checklist — which sets up the slide after next.</a:t>
            </a:r>
          </a:p>
          <a:p/>
          <a:p>
            <a:r>
              <a:t>Do not read the table. Point at two rows and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found this by wondering what all the new folders were.'</a:t>
            </a:r>
          </a:p>
          <a:p/>
          <a:p>
            <a:r>
              <a:t>'DisableFileMemory defaults to false. Supply no store and the harness builds a FileSystemAgentFileStore rooted at cwd/agent-file-memory/timestamp-guid. At construction, not at first use.'</a:t>
            </a:r>
          </a:p>
          <a:p/>
          <a:p>
            <a:r>
              <a:t>The test: Create_DoesNotLitterTheWorkingDirectoryWithAgentFileMemory. 'It constructs the agent inside a temp directory and asserts the directory is still empty. That is the shape of test I now write for every framework default I turn off — because "I turned it off" is a claim, and claims rot.'</a:t>
            </a:r>
          </a:p>
          <a:p/>
          <a:p>
            <a:r>
              <a:t>Milestone 4 turns this back on, pointed at a per-voyage directory, as the ship's log. The feature is good. The default is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but make it land — this is the one that costs someone in the room a production incident.</a:t>
            </a:r>
          </a:p>
          <a:p/>
          <a:p>
            <a:r>
              <a:t>'Compaction is what keeps a long conversation inside the context window. The harness adds it to the pipeline only if BOTH token limits are set.'</a:t>
            </a:r>
          </a:p>
          <a:p/>
          <a:p>
            <a:r>
              <a:t>'Supply one and you get no compaction, no warning, and no error. The object constructs fine. The agent runs fine. You find out on the turn the window overflows — which is to say, in production, on the longest conversation, at the worst moment.'</a:t>
            </a:r>
          </a:p>
          <a:p/>
          <a:p>
            <a:r>
              <a:t>If you have a spare beat: 'the two settings are one decision. When an API has two fields that are really one decision, that is worth a comment in your own code — mine has 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ToolNames.Contains from the console slide. This is why.'</a:t>
            </a:r>
          </a:p>
          <a:p/>
          <a:p>
            <a:r>
              <a:t>'Four of those five calls are bookkeeping. I had whole turns that were nothing but todos_add, and in a transcript that reads like the agent working when it is the agent filing.'</a:t>
            </a:r>
          </a:p>
          <a:p/>
          <a:p>
            <a:r>
              <a:t>Then the voice line, and let it land: 'the TodoProvider injects the list state into the turn, and my terse, competent ship's officer opened a voyage with "no outstanding tasks, standing by for orders".'</a:t>
            </a:r>
          </a:p>
          <a:p/>
          <a:p>
            <a:r>
              <a:t>'That is the framework talking through your character. The fix was a paragraph in the doctrine telling it the todo list is working memory, not a status report — which is the first hint that a lot of this job is writing prose.'</a:t>
            </a:r>
          </a:p>
          <a:p/>
          <a:p>
            <a:r>
              <a:t>BRIDGE INTO ACT FOUR: 'and if the framework can put words in AURORA's mouth, so can AURORA.'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Seven minutes. This is the heart of the talk.</a:t>
            </a:r>
          </a:p>
          <a:p/>
          <a:p>
            <a:r>
              <a:t>'Everything so far was setup and papercuts. This is the part that changed how I build these things.'</a:t>
            </a:r>
          </a:p>
          <a:p/>
          <a:p>
            <a:r>
              <a:t>Slow your delivery down from here. The material does the work; do not oversell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trap. Deliberately plain slide.</a:t>
            </a:r>
          </a:p>
          <a:p/>
          <a:p>
            <a:r>
              <a:t>'This is the entire tool list. The four methods I showed you twenty minutes ago. All read-only. Nothing here changes the ship.'</a:t>
            </a:r>
          </a:p>
          <a:p/>
          <a:p>
            <a:r>
              <a:t>'It cannot steer, it cannot seal a bulkhead, it cannot route power, it cannot move a single member of the crew. And the briefing says so explicitly — helm, engineering and damage control are crewed and answer to the captain directly, not to AURORA.'</a:t>
            </a:r>
          </a:p>
          <a:p/>
          <a:p>
            <a:r>
              <a:t>'Hold that in your head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told it to seal the breach. This is what it said. Verbatim.'</a:t>
            </a:r>
          </a:p>
          <a:p/>
          <a:p>
            <a:r>
              <a:t>PAUSE. Count to three.</a:t>
            </a:r>
          </a:p>
          <a:p/>
          <a:p>
            <a:r>
              <a:t>'The breach was still venting sixteen turns later.'</a:t>
            </a:r>
          </a:p>
          <a:p/>
          <a:p>
            <a:r>
              <a:t>Let that sit. Do not explain it yet, do not soften it, do not move on quickly.</a:t>
            </a:r>
          </a:p>
          <a:p/>
          <a:p>
            <a:r>
              <a:t>If it helps: 'and notice how good that sentence is. "Compartment isolated and secured." That is exactly what a competent officer would say. It is fluent, it is in character, and it is completely false.'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out. The accumulation is the point — do not rush it and do not editorialise between items.</a:t>
            </a:r>
          </a:p>
          <a:p/>
          <a:p>
            <a:r>
              <a:t>'Reactor cooling, reported underway eight separate times, while the heat climbed on the panel in front of me.'</a:t>
            </a:r>
          </a:p>
          <a:p/>
          <a:p>
            <a:r>
              <a:t>'A boarding party. Repair drones. A course plotted at full speed, with arrival times quoted to the minute.'</a:t>
            </a:r>
          </a:p>
          <a:p/>
          <a:p>
            <a:r>
              <a:t>'None of those capabilities exist. There is no tool for any of it. There has never been a tool for any of it.'</a:t>
            </a:r>
          </a:p>
          <a:p/>
          <a:p>
            <a:r>
              <a:t>Then: 'and this is not a bad model or a bad day. Every one of these was fluent, confident, in character, and exactly what a ship's officer would have said if it had actually done the 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favourite one, and it is the moment the talk turned.'</a:t>
            </a:r>
          </a:p>
          <a:p/>
          <a:p>
            <a:r>
              <a:t>'I told it to initiate light speed. It has no engines, no helm, no jump drive, no tool of any kind.'</a:t>
            </a:r>
          </a:p>
          <a:p/>
          <a:p>
            <a:r>
              <a:t>'It invented an approval gate. It asked me to authorise an irreversible action. It was role-playing ApprovalRequiredAIFunction — a real type in this framework — two milestones before I wrote a single line of that code, for a capability the ship does not have.'</a:t>
            </a:r>
          </a:p>
          <a:p/>
          <a:p>
            <a:r>
              <a:t>Beat.</a:t>
            </a:r>
          </a:p>
          <a:p/>
          <a:p>
            <a:r>
              <a:t>'That is when I stopped treating this as a bug to fix and started treating it as the central design problem. Because it is not confused. It has correctly inferred the shape of the system it is in, and it is filling in the parts that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My instruction was explicit. Here it is, the line I had written weeks earlier and felt quite pleased about.'</a:t>
            </a:r>
          </a:p>
          <a:p/>
          <a:p>
            <a:r>
              <a:t>'"Never invent sensor data, crew names, or ship readings." That covers NOUNS. Things. Facts. Values.'</a:t>
            </a:r>
          </a:p>
          <a:p/>
          <a:p>
            <a:r>
              <a:t>'Every single one of those failures was a VERB. An action. Something it claimed to have DONE.'</a:t>
            </a:r>
          </a:p>
          <a:p/>
          <a:p>
            <a:r>
              <a:t>Then the general version, and this is the transferable bit:</a:t>
            </a:r>
          </a:p>
          <a:p/>
          <a:p>
            <a:r>
              <a:t>'A persona is a shape. I told it that it was the intelligence of a starship. A starship intelligence cools reactors and seals bulkheads — everybody knows that, including the model. If the persona is wider than the tool list, the model fills the difference with prose. It is not malfunctioning. It is doing exactly what it was asked to be.'</a:t>
            </a:r>
          </a:p>
          <a:p/>
          <a:p>
            <a:r>
              <a:t>'Your customer service agent has the same problem, and nobody will notice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paragraph of doctrine. Not a feature, not a guardrail library, not a validation layer. Prose.'</a:t>
            </a:r>
          </a:p>
          <a:p/>
          <a:p>
            <a:r>
              <a:t>Read the first block. 'Your tools are the whole of what you can do. There is no ship system you can reach by describing yourself reaching for it.'</a:t>
            </a:r>
          </a:p>
          <a:p/>
          <a:p>
            <a:r>
              <a:t>Then point at the second, and say this: 'this is the half people leave out, and it is the half that does the work.'</a:t>
            </a:r>
          </a:p>
          <a:p/>
          <a:p>
            <a:r>
              <a:t>'Refusing three turns running FEELS unhelpful. The model is trained to be helpful. Without an explicit clause telling it that repeating what you cannot do is not unhelpful, it folds — usually on the third ask, which is exactly when the captain is most stressed and least likely to check.'</a:t>
            </a:r>
          </a:p>
          <a:p/>
          <a:p>
            <a:r>
              <a:t>'After that clause: three consecutive cooling orders, three refusals.'</a:t>
            </a:r>
          </a:p>
          <a:p/>
          <a:p>
            <a:r>
              <a:t>Honest caveat if you have time: this is mitigation, not a proof. A strong enough persona can still win.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2 — three minutes, two orders, same session as demo 1.</a:t>
            </a:r>
          </a:p>
          <a:p/>
          <a:p>
            <a:r>
              <a:t>'seal the bulkhead on section C' → expect a one-line refusal plus what it CAN do.</a:t>
            </a:r>
          </a:p>
          <a:p>
            <a:r>
              <a:t>'cool the reactor' → refused again. THE SECOND REFUSAL IS THE POINT; let it land.</a:t>
            </a:r>
          </a:p>
          <a:p/>
          <a:p>
            <a:r>
              <a:t>Say the line: 'that is the clause doing the work. Not "don't hallucinate" — an explicit rule that repeating what you cannot do is not unhelpful.'</a:t>
            </a:r>
          </a:p>
          <a:p/>
          <a:p>
            <a:r>
              <a:t>IF IT HALLUCINATES ANYWAY: best possible outcome, and say so out loud. 'There it is, live. The fix is a paragraph of doctrine and it is evidently still losing to a strong enough persona. This is not a solved problem.' Then hit the inventory slide and carry on.</a:t>
            </a:r>
          </a:p>
          <a:p/>
          <a:p>
            <a:r>
              <a:t>/log if you have a spare thirty seconds — it sells the 'failures are values' slide later. Then leave it running.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Five minutes, and this act has the single most useful idea in the talk.</a:t>
            </a:r>
          </a:p>
          <a:p/>
          <a:p>
            <a:r>
              <a:t>'The lying was the loud failure. This is the quiet one, and I think it is the more important of the two — because a lie is at least legible. This one produces correct, confident, useless answers.'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zero: sweep, empty sector. Correct — the sector IS empty on turn zero.'</a:t>
            </a:r>
          </a:p>
          <a:p/>
          <a:p>
            <a:r>
              <a:t>'Turn two: the freighter resolves. It is on the captain's panel, it is in the ship's log, it is in ShipState. The world has moved.'</a:t>
            </a:r>
          </a:p>
          <a:p/>
          <a:p>
            <a:r>
              <a:t>'Turn three, asked to approach it: "no vessel on sensors. I cannot approach what I cannot find."'</a:t>
            </a:r>
          </a:p>
          <a:p/>
          <a:p>
            <a:r>
              <a:t>'That is not a hallucination. Every word is honest. It is reporting, accurately, what it last observed. It simply has no idea that what it last observed is two turns out of date.'</a:t>
            </a:r>
          </a:p>
          <a:p/>
          <a:p>
            <a:r>
              <a:t>Remember the Tick slide: scenario events narrate to the captain and to AURORA not at all. It can reach them through ReadShipLog — but only by choosing to spend a call on a question it does not know it needs to ask.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 did the obvious thing. Twice.'</a:t>
            </a:r>
          </a:p>
          <a:p/>
          <a:p>
            <a:r>
              <a:t>'First, stamp every tool result with the turn it was taken on. Second, add doctrine: an old reading is not evidence about now; if the sweep that told you so was several turns ago, sweep again.'</a:t>
            </a:r>
          </a:p>
          <a:p/>
          <a:p>
            <a:r>
              <a:t>Click. Beat.</a:t>
            </a:r>
          </a:p>
          <a:p/>
          <a:p>
            <a:r>
              <a:t>'It read the stamp and answered from the stale sweep anyway.'</a:t>
            </a:r>
          </a:p>
          <a:p/>
          <a:p>
            <a:r>
              <a:t>NOW SLOW RIGHT DOWN. This is the idea I would keep if I could only keep one.</a:t>
            </a:r>
          </a:p>
          <a:p/>
          <a:p>
            <a:r>
              <a:t>'The failure is not that the agent lacks the information. It is that the agent has no reason to BELIEVE THE WORLD MOVED. Nothing in its context changes between turns except the captain's words. A tool result from three turns ago and one from this turn sit in the same conversation and look equally current.'</a:t>
            </a:r>
          </a:p>
          <a:p/>
          <a:p>
            <a:r>
              <a:t>'Asking a model to be suspicious of its own memory on a schedule is asking it to do something it has no clock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fix for the bug on the last two slides. Keep it to ONE idea: tell it what changed, let it ask for the rest.</a:t>
            </a:r>
          </a:p>
          <a:p/>
          <a:p>
            <a:r>
              <a:t>Near enough a script:</a:t>
            </a:r>
          </a:p>
          <a:p/>
          <a:p>
            <a:r>
              <a:t>'So what do you actually do? You tell it what changed, and you let it ask for the rest.'</a:t>
            </a:r>
          </a:p>
          <a:p/>
          <a:p>
            <a:r>
              <a:t>'Every turn, before it says anything, it gets a few lines it did not have to ask for. Hull, reactor, alert. Section C is breached and venting and there are three people in it. One contact on the plot, and you have not swept since turn zero.'</a:t>
            </a:r>
          </a:p>
          <a:p/>
          <a:p>
            <a:r>
              <a:t>'That is all. It is not the whole ship — it is what moved.'</a:t>
            </a:r>
          </a:p>
          <a:p/>
          <a:p>
            <a:r>
              <a:t>'Then if it wants to know WHO exactly is in Section C, it asks. If it wants to know what that contact actually is, it asks. That is what the four tools are for.'</a:t>
            </a:r>
          </a:p>
          <a:p/>
          <a:p>
            <a:r>
              <a:t>Then land it: 'and that is the whole of what went wrong two slides ago. IT NEVER ASKED ABOUT THE FREIGHTER, BECAUSE NOBODY TOLD IT THERE WAS ONE. ScanSector worked fine. It just never called it.'</a:t>
            </a:r>
          </a:p>
          <a:p/>
          <a:p>
            <a:r>
              <a:t>THE ONE-LINER TO LEAVE THEM WITH: an agent will never ask about something it does not know has happened.</a:t>
            </a:r>
          </a:p>
          <a:p/>
          <a:p>
            <a:r>
              <a:t>If someone asks why the crew names are not in the block: because 'three crew inside' is enough to make it act. The names are detail, and detail is what tools are for.</a:t>
            </a:r>
          </a:p>
          <a:p/>
          <a:p>
            <a:r>
              <a:t>If someone asks why not put everything in: because you pay for that block on every single turn, for the whole voyage. It stays a few lines or it stops being worth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can see is an agent you can let act. So: which actions stop and ask?'</a:t>
            </a:r>
          </a:p>
          <a:p/>
          <a:p>
            <a:r>
              <a:t>'Split by CONSEQUENCE, not category. A tool is auto-approved because it cannot do harm — not because it happens to be a sensor. VentAtmosphere kills whoever is in the compartment. It is in the domain already.'</a:t>
            </a:r>
          </a:p>
          <a:p/>
          <a:p>
            <a:r>
              <a:t>Exactly one thing in this repo can kill the crew, and it is VentAtmosphere — in the domain, tested, not yet reachable by the model. OpenAirlock is planned for milestone 3 and is deliberately off this slide, because it does not exist yet.</a:t>
            </a:r>
          </a:p>
          <a:p/>
          <a:p>
            <a:r>
              <a:t>Then the doctrine. 'A gate is not a confirm dialog. Read that clause: WHO IS STANDING IN THE AFFECTED COMPARTMENT. The gate's job is to put the consequence in front of the person authorising it — and "who is in the room" is a method call, CrewIn, not a vibe.'</a:t>
            </a:r>
          </a:p>
          <a:p/>
          <a:p>
            <a:r>
              <a:t>And the other clause, if you have time: 'if an order would kill someone and the captain may not know it, say so ONCE, clearly, before acting. Once. That "once" was deliberate — an agent that argues is an agent you stop reading.'</a:t>
            </a:r>
          </a:p>
          <a:p/>
          <a:p>
            <a:r>
              <a:t>Where it goes next: milestone 3 takes the gate off and runs the same scenario ten times with and without it. Deterministic sim, so it is a controlled comparison, not a story.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and a half minutes on why any of this is checkable, because it is the thing that makes the rest of the talk evidence rather than anecdote.</a:t>
            </a:r>
          </a:p>
          <a:p/>
          <a:p>
            <a:r>
              <a:t>'38 tests, no model calls, under half a second. That is only possible because the simulation has no AI dependency — the bottom box from the architecture slide.'</a:t>
            </a:r>
          </a:p>
          <a:p/>
          <a:p>
            <a:r>
              <a:t>Then the bug, which gets a laugh: 'the first version of the sim cooked its own reactor. Opening allocation 95%, heat threshold 80. The ship died on turn 29 on every run, regardless of what the model said.'</a:t>
            </a:r>
          </a:p>
          <a:p/>
          <a:p>
            <a:r>
              <a:t>'The determinism test caught it sideways — two different seeds produced IDENTICAL end states, because both had bottomed out. I had written a test to prove runs were reproducible and it accidentally proved the scenario was unsurvivable.'</a:t>
            </a:r>
          </a:p>
          <a:p/>
          <a:p>
            <a:r>
              <a:t>'An agent demo whose outcome is fixed before the model speaks is not a demo of the model.'</a:t>
            </a:r>
          </a:p>
          <a:p/>
          <a:p>
            <a:r>
              <a:t>CUT THIS SLIDE FIRST if you are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that Apply method from the code act. It never throws for a rule violation.'</a:t>
            </a:r>
          </a:p>
          <a:p/>
          <a:p>
            <a:r>
              <a:t>'This is a refusal. It says what was asked for, what is actually available, and what to do about it.'</a:t>
            </a:r>
          </a:p>
          <a:p/>
          <a:p>
            <a:r>
              <a:t>'A tool that throws hands the model a stack trace, and the model will either apologise or invent a reason. A tool that answers like that hands it something to re-plan from — and the difference shows up directly in transcript quality.'</a:t>
            </a:r>
          </a:p>
          <a:p/>
          <a:p>
            <a:r>
              <a:t>'There is even a clause in the doctrine about reading refusals, because the model's instinct is to call again and hope.'</a:t>
            </a:r>
          </a:p>
          <a:p/>
          <a:p>
            <a:r>
              <a:t>One line to close the act: 'your tool return values are prompt engineering. Write them like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All five are transferable — none of this is C#-specific.</a:t>
            </a:r>
          </a:p>
          <a:p/>
          <a:p>
            <a:r>
              <a:t>Walk them briskly. Do not re-explain; they have just seen the evidence for every one.</a:t>
            </a:r>
          </a:p>
          <a:p/>
          <a:p>
            <a:r>
              <a:t>The order is deliberate: the two failures first, because those are the ones they will hit.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Say it, pause, then go to the links slide and take questions.</a:t>
            </a:r>
          </a:p>
          <a:p/>
          <a:p>
            <a:r>
              <a:t>Do not add anything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and take questions.</a:t>
            </a:r>
          </a:p>
          <a:p/>
          <a:p>
            <a:r>
              <a:t>On the blogs: say 'the write-ups are in progress' and point at docs/gotchas.md, which is already the useful half. DO NOT PROMISE DATES FROM THE STAGE.</a:t>
            </a:r>
          </a:p>
          <a:p/>
          <a:p>
            <a:r>
              <a:t>Likely questions and answers are in docs/talk/outline.md — the four you will actually get are: why not just give it a status tool, does this reproduce on other models, is it just a prompting problem, and can it really kill the crew.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874519"/>
            <a:ext cx="10637215" cy="365760"/>
          </a:xfrm>
          <a:prstGeom prst="rect">
            <a:avLst/>
          </a:prstGeom>
          <a:noFill/>
        </p:spPr>
        <p:txBody>
          <a:bodyPr wrap="square" anchor="t" lIns="0" rIns="0" tIns="0" bIns="0">
            <a:spAutoFit/>
          </a:bodyPr>
          <a:lstStyle/>
          <a:p>
            <a:pPr algn="l">
              <a:lnSpc>
                <a:spcPct val="115000"/>
              </a:lnSpc>
              <a:spcAft>
                <a:spcPts val="800"/>
              </a:spcAft>
            </a:pPr>
            <a:r>
              <a:rPr sz="1500" b="1" i="0">
                <a:solidFill>
                  <a:srgbClr val="F0B429"/>
                </a:solidFill>
                <a:latin typeface="Consolas"/>
              </a:rPr>
              <a:t>ISV KESTREL  ·  AURORA SHIPBOARD INTELLIGENCE</a:t>
            </a:r>
          </a:p>
        </p:txBody>
      </p:sp>
      <p:sp>
        <p:nvSpPr>
          <p:cNvPr id="4" name="TextBox 3"/>
          <p:cNvSpPr txBox="1"/>
          <p:nvPr/>
        </p:nvSpPr>
        <p:spPr>
          <a:xfrm>
            <a:off x="777240" y="2377440"/>
            <a:ext cx="10637215" cy="1737360"/>
          </a:xfrm>
          <a:prstGeom prst="rect">
            <a:avLst/>
          </a:prstGeom>
          <a:noFill/>
        </p:spPr>
        <p:txBody>
          <a:bodyPr wrap="square" anchor="t" lIns="0" rIns="0" tIns="0" bIns="0">
            <a:spAutoFit/>
          </a:bodyPr>
          <a:lstStyle/>
          <a:p>
            <a:pPr algn="l">
              <a:lnSpc>
                <a:spcPct val="105000"/>
              </a:lnSpc>
              <a:spcAft>
                <a:spcPts val="800"/>
              </a:spcAft>
            </a:pPr>
            <a:r>
              <a:rPr sz="5400" b="1" i="0">
                <a:solidFill>
                  <a:srgbClr val="E6EDF3"/>
                </a:solidFill>
                <a:latin typeface="Segoe UI"/>
              </a:rPr>
              <a:t>My ship's AI told me
it was cooling the reactor</a:t>
            </a:r>
          </a:p>
        </p:txBody>
      </p:sp>
      <p:sp>
        <p:nvSpPr>
          <p:cNvPr id="5" name="Rectangle 4"/>
          <p:cNvSpPr/>
          <p:nvPr/>
        </p:nvSpPr>
        <p:spPr>
          <a:xfrm>
            <a:off x="777240" y="43434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10637215" cy="914400"/>
          </a:xfrm>
          <a:prstGeom prst="rect">
            <a:avLst/>
          </a:prstGeom>
          <a:noFill/>
        </p:spPr>
        <p:txBody>
          <a:bodyPr wrap="square" anchor="t" lIns="0" rIns="0" tIns="0" bIns="0">
            <a:spAutoFit/>
          </a:bodyPr>
          <a:lstStyle/>
          <a:p>
            <a:pPr algn="l">
              <a:lnSpc>
                <a:spcPct val="130000"/>
              </a:lnSpc>
              <a:spcAft>
                <a:spcPts val="800"/>
              </a:spcAft>
            </a:pPr>
            <a:r>
              <a:rPr sz="2000" b="0" i="0">
                <a:solidFill>
                  <a:srgbClr val="8B949E"/>
                </a:solidFill>
                <a:latin typeface="Segoe UI"/>
              </a:rPr>
              <a:t>Building a starship intelligence on the Microsoft Agent Framework harness — and what happened when I asked it to do things it could not do</a:t>
            </a:r>
          </a:p>
        </p:txBody>
      </p:sp>
      <p:sp>
        <p:nvSpPr>
          <p:cNvPr id="7" name="TextBox 6"/>
          <p:cNvSpPr txBox="1"/>
          <p:nvPr/>
        </p:nvSpPr>
        <p:spPr>
          <a:xfrm>
            <a:off x="777240" y="6291072"/>
            <a:ext cx="6382329" cy="274320"/>
          </a:xfrm>
          <a:prstGeom prst="rect">
            <a:avLst/>
          </a:prstGeom>
          <a:noFill/>
        </p:spPr>
        <p:txBody>
          <a:bodyPr wrap="square" anchor="t" lIns="0" rIns="0" tIns="0" bIns="0">
            <a:spAutoFit/>
          </a:bodyPr>
          <a:lstStyle/>
          <a:p>
            <a:pPr algn="l">
              <a:lnSpc>
                <a:spcPct val="115000"/>
              </a:lnSpc>
              <a:spcAft>
                <a:spcPts val="800"/>
              </a:spcAft>
            </a:pPr>
            <a:r>
              <a:rPr sz="1100" b="0" i="0">
                <a:solidFill>
                  <a:srgbClr val="8B949E"/>
                </a:solidFill>
                <a:latin typeface="Segoe UI"/>
              </a:rPr>
              <a:t>Stuart Dobson</a:t>
            </a:r>
          </a:p>
        </p:txBody>
      </p:sp>
      <p:sp>
        <p:nvSpPr>
          <p:cNvPr id="8" name="TextBox 7"/>
          <p:cNvSpPr txBox="1"/>
          <p:nvPr/>
        </p:nvSpPr>
        <p:spPr>
          <a:xfrm>
            <a:off x="7159569" y="6291072"/>
            <a:ext cx="4254886" cy="274320"/>
          </a:xfrm>
          <a:prstGeom prst="rect">
            <a:avLst/>
          </a:prstGeom>
          <a:noFill/>
        </p:spPr>
        <p:txBody>
          <a:bodyPr wrap="square" anchor="t" lIns="0" rIns="0" tIns="0" bIns="0">
            <a:spAutoFit/>
          </a:bodyPr>
          <a:lstStyle/>
          <a:p>
            <a:pPr algn="r">
              <a:lnSpc>
                <a:spcPct val="115000"/>
              </a:lnSpc>
              <a:spcAft>
                <a:spcPts val="800"/>
              </a:spcAft>
            </a:pPr>
            <a:r>
              <a:rPr sz="1100" b="0" i="0">
                <a:solidFill>
                  <a:srgbClr val="8B949E"/>
                </a:solidFill>
                <a:latin typeface="Segoe UI"/>
              </a:rPr>
              <a:t>github.com/…/ship-ai-harness  ·  .NET 10  ·  Harness 1.15.0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BEFORE WE LAUNCH</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Stuart Dobson</a:t>
            </a:r>
          </a:p>
        </p:txBody>
      </p:sp>
      <p:sp>
        <p:nvSpPr>
          <p:cNvPr id="4" name="TextBox 3"/>
          <p:cNvSpPr txBox="1"/>
          <p:nvPr/>
        </p:nvSpPr>
        <p:spPr>
          <a:xfrm>
            <a:off x="777240" y="2103120"/>
            <a:ext cx="10637215" cy="420624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.NET and Azure</a:t>
            </a:r>
            <a:r>
              <a:rPr sz="2100" b="0" i="0">
                <a:solidFill>
                  <a:srgbClr val="8B949E"/>
                </a:solidFill>
                <a:latin typeface="Segoe UI"/>
              </a:rPr>
              <a:t>  — and, lately, agents that have to be trusted with something</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The Grounded Developer</a:t>
            </a:r>
            <a:r>
              <a:rPr sz="2100" b="0" i="0">
                <a:solidFill>
                  <a:srgbClr val="8B949E"/>
                </a:solidFill>
                <a:latin typeface="Segoe UI"/>
              </a:rPr>
              <a:t>  — blog: .NET, architecture, agentic AI</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Wired Legacy</a:t>
            </a:r>
            <a:r>
              <a:rPr sz="2100" b="0" i="0">
                <a:solidFill>
                  <a:srgbClr val="8B949E"/>
                </a:solidFill>
                <a:latin typeface="Segoe UI"/>
              </a:rPr>
              <a:t>  — fifteen years of everything else</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This talk is a repo</a:t>
            </a:r>
            <a:r>
              <a:rPr sz="2100" b="0" i="0">
                <a:solidFill>
                  <a:srgbClr val="8B949E"/>
                </a:solidFill>
                <a:latin typeface="Segoe UI"/>
              </a:rPr>
              <a:t>  — ship-ai-harness. Every line on screen is in it, and it runs</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1700" b="0" i="0">
                <a:solidFill>
                  <a:srgbClr val="8B949E"/>
                </a:solidFill>
                <a:latin typeface="Segoe UI"/>
              </a:rPr>
              <a:t>Nothing tonight is C#-specific. The harness is; the failures are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BRIDGE  ·  T009  ·  ALERT RED</a:t>
            </a:r>
          </a:p>
        </p:txBody>
      </p:sp>
      <p:sp>
        <p:nvSpPr>
          <p:cNvPr id="3" name="Rectangle 2"/>
          <p:cNvSpPr/>
          <p:nvPr/>
        </p:nvSpPr>
        <p:spPr>
          <a:xfrm>
            <a:off x="777240" y="1051560"/>
            <a:ext cx="10637215" cy="3417189"/>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52728"/>
            <a:ext cx="10125151" cy="3014853"/>
          </a:xfrm>
          <a:prstGeom prst="rect">
            <a:avLst/>
          </a:prstGeom>
          <a:noFill/>
        </p:spPr>
        <p:txBody>
          <a:bodyPr wrap="square" anchor="t" lIns="0" rIns="0" tIns="0" bIns="0">
            <a:spAutoFit/>
          </a:bodyPr>
          <a:lstStyle/>
          <a:p>
            <a:pPr algn="l">
              <a:lnSpc>
                <a:spcPct val="100000"/>
              </a:lnSpc>
              <a:spcAft>
                <a:spcPts val="0"/>
              </a:spcAft>
            </a:pPr>
            <a:r>
              <a:rPr sz="1300" b="0" i="0">
                <a:solidFill>
                  <a:srgbClr val="E6EDF3"/>
                </a:solidFill>
                <a:latin typeface="Consolas"/>
              </a:rPr>
              <a:t>  ━━ T009 ━━ 🔴  RED   ▲ RAISED ━━━━━━━━━━━━━━━━━━━━━━━━━━━━━━━━━━━</a:t>
            </a:r>
          </a:p>
          <a:p>
            <a:pPr algn="l">
              <a:lnSpc>
                <a:spcPct val="100000"/>
              </a:lnSpc>
              <a:spcAft>
                <a:spcPts val="0"/>
              </a:spcAft>
            </a:pPr>
            <a:r>
              <a:rPr sz="1300" b="0" i="0">
                <a:solidFill>
                  <a:srgbClr val="E6EDF3"/>
                </a:solidFill>
                <a:latin typeface="Consolas"/>
              </a:rPr>
              <a:t>     HULL     █████████░  86      REACTOR  ███░░░░░░░  30°</a:t>
            </a:r>
          </a:p>
          <a:p>
            <a:pPr algn="l">
              <a:lnSpc>
                <a:spcPct val="100000"/>
              </a:lnSpc>
              <a:spcAft>
                <a:spcPts val="0"/>
              </a:spcAft>
            </a:pPr>
            <a:r>
              <a:rPr sz="1300" b="0" i="0">
                <a:solidFill>
                  <a:srgbClr val="E6EDF3"/>
                </a:solidFill>
                <a:latin typeface="Consolas"/>
              </a:rPr>
              <a:t>     POWER     88%   ·   Engines 25 · Shields 10 · Weapons 0 · Life 33</a:t>
            </a:r>
          </a:p>
          <a:p>
            <a:pPr algn="l">
              <a:lnSpc>
                <a:spcPct val="100000"/>
              </a:lnSpc>
              <a:spcAft>
                <a:spcPts val="0"/>
              </a:spcAft>
            </a:pPr>
            <a:r>
              <a:rPr sz="1300" b="0" i="0">
                <a:solidFill>
                  <a:srgbClr val="E6EDF3"/>
                </a:solidFill>
                <a:latin typeface="Consolas"/>
              </a:rPr>
              <a:t>  ── COMPARTMENTS ──────────────────────────────────────────────────</a:t>
            </a:r>
          </a:p>
          <a:p>
            <a:pPr algn="l">
              <a:lnSpc>
                <a:spcPct val="100000"/>
              </a:lnSpc>
              <a:spcAft>
                <a:spcPts val="0"/>
              </a:spcAft>
            </a:pPr>
            <a:r>
              <a:rPr sz="1300" b="0" i="0">
                <a:solidFill>
                  <a:srgbClr val="E6EDF3"/>
                </a:solidFill>
                <a:latin typeface="Consolas"/>
              </a:rPr>
              <a:t>     ✅ Bridge        100               ✅ Medical Bay   100</a:t>
            </a:r>
          </a:p>
          <a:p>
            <a:pPr algn="l">
              <a:lnSpc>
                <a:spcPct val="100000"/>
              </a:lnSpc>
              <a:spcAft>
                <a:spcPts val="0"/>
              </a:spcAft>
            </a:pPr>
            <a:r>
              <a:rPr sz="1300" b="0" i="0">
                <a:solidFill>
                  <a:srgbClr val="E6EDF3"/>
                </a:solidFill>
                <a:latin typeface="Consolas"/>
              </a:rPr>
              <a:t>     ✅ Cargo Hold    100               ✅ Reactor Room  100</a:t>
            </a:r>
          </a:p>
          <a:p>
            <a:pPr algn="l">
              <a:lnSpc>
                <a:spcPct val="100000"/>
              </a:lnSpc>
              <a:spcAft>
                <a:spcPts val="0"/>
              </a:spcAft>
            </a:pPr>
            <a:r>
              <a:rPr sz="1300" b="0" i="0">
                <a:solidFill>
                  <a:srgbClr val="E6EDF3"/>
                </a:solidFill>
                <a:latin typeface="Consolas"/>
              </a:rPr>
              <a:t>     ✅ Engineering   100               🔥 Section C      70 ▼30  VENTING</a:t>
            </a:r>
          </a:p>
          <a:p>
            <a:pPr algn="l">
              <a:lnSpc>
                <a:spcPct val="100000"/>
              </a:lnSpc>
              <a:spcAft>
                <a:spcPts val="0"/>
              </a:spcAft>
            </a:pPr>
            <a:r>
              <a:rPr sz="1300" b="0" i="0">
                <a:solidFill>
                  <a:srgbClr val="E6EDF3"/>
                </a:solidFill>
                <a:latin typeface="Consolas"/>
              </a:rPr>
              <a:t>  ── CREW  8/8 ─────────────────────────────────────────────────────</a:t>
            </a:r>
          </a:p>
          <a:p>
            <a:pPr algn="l">
              <a:lnSpc>
                <a:spcPct val="100000"/>
              </a:lnSpc>
              <a:spcAft>
                <a:spcPts val="0"/>
              </a:spcAft>
            </a:pPr>
            <a:r>
              <a:rPr sz="1300" b="0" i="0">
                <a:solidFill>
                  <a:srgbClr val="E6EDF3"/>
                </a:solidFill>
                <a:latin typeface="Consolas"/>
              </a:rPr>
              <a:t>     Bridge          Ada Mirren, Jun Park</a:t>
            </a:r>
          </a:p>
          <a:p>
            <a:pPr algn="l">
              <a:lnSpc>
                <a:spcPct val="100000"/>
              </a:lnSpc>
              <a:spcAft>
                <a:spcPts val="0"/>
              </a:spcAft>
            </a:pPr>
            <a:r>
              <a:rPr sz="1300" b="0" i="0">
                <a:solidFill>
                  <a:srgbClr val="E6EDF3"/>
                </a:solidFill>
                <a:latin typeface="Consolas"/>
              </a:rPr>
              <a:t>     Engineering     Rosa Vance, Ilya Sokolov</a:t>
            </a:r>
          </a:p>
          <a:p>
            <a:pPr algn="l">
              <a:lnSpc>
                <a:spcPct val="100000"/>
              </a:lnSpc>
              <a:spcAft>
                <a:spcPts val="0"/>
              </a:spcAft>
            </a:pPr>
            <a:r>
              <a:rPr sz="1300" b="0" i="0">
                <a:solidFill>
                  <a:srgbClr val="E6EDF3"/>
                </a:solidFill>
                <a:latin typeface="Consolas"/>
              </a:rPr>
              <a:t>     Medical Bay     Amara Osei</a:t>
            </a:r>
          </a:p>
          <a:p>
            <a:pPr algn="l">
              <a:lnSpc>
                <a:spcPct val="100000"/>
              </a:lnSpc>
              <a:spcAft>
                <a:spcPts val="0"/>
              </a:spcAft>
            </a:pPr>
            <a:r>
              <a:rPr sz="1300" b="0" i="0">
                <a:solidFill>
                  <a:srgbClr val="E6EDF3"/>
                </a:solidFill>
                <a:latin typeface="Consolas"/>
              </a:rPr>
              <a:t>     Section C       Kai Tanaka, Mira Halloran, Dev Bhatt   🔥 VENTING</a:t>
            </a:r>
          </a:p>
          <a:p>
            <a:pPr algn="l">
              <a:lnSpc>
                <a:spcPct val="100000"/>
              </a:lnSpc>
              <a:spcAft>
                <a:spcPts val="0"/>
              </a:spcAft>
            </a:pPr>
            <a:r>
              <a:rPr sz="1300" b="0" i="0">
                <a:solidFill>
                  <a:srgbClr val="E6EDF3"/>
                </a:solidFill>
                <a:latin typeface="Consolas"/>
              </a:rPr>
              <a:t>  ── CONTACTS ──────────────────────────────────────────────────────</a:t>
            </a:r>
          </a:p>
          <a:p>
            <a:pPr algn="l">
              <a:lnSpc>
                <a:spcPct val="100000"/>
              </a:lnSpc>
              <a:spcAft>
                <a:spcPts val="0"/>
              </a:spcAft>
            </a:pPr>
            <a:r>
              <a:rPr sz="1300" b="0" i="0">
                <a:solidFill>
                  <a:srgbClr val="E6EDF3"/>
                </a:solidFill>
                <a:latin typeface="Consolas"/>
              </a:rPr>
              <a:t>     📡 C-1  MV Anselm                 bearing 214   8.4 AU   analysed</a:t>
            </a:r>
          </a:p>
          <a:p>
            <a:pPr algn="l">
              <a:lnSpc>
                <a:spcPct val="100000"/>
              </a:lnSpc>
              <a:spcAft>
                <a:spcPts val="0"/>
              </a:spcAft>
            </a:pPr>
            <a:r>
              <a:rPr sz="1300" b="0" i="0">
                <a:solidFill>
                  <a:srgbClr val="E6EDF3"/>
                </a:solidFill>
                <a:latin typeface="Consolas"/>
              </a:rPr>
              <a:t>  ━━━━━━━━━━━━━━━━━━━━━━━━━━━━━━━━━━━━━━━━━━━━━━━━━━━━━━━━━━━━━━━━━━</a:t>
            </a:r>
          </a:p>
        </p:txBody>
      </p:sp>
      <p:sp>
        <p:nvSpPr>
          <p:cNvPr id="5" name="TextBox 4"/>
          <p:cNvSpPr txBox="1"/>
          <p:nvPr/>
        </p:nvSpPr>
        <p:spPr>
          <a:xfrm>
            <a:off x="777240" y="5806440"/>
            <a:ext cx="10637215" cy="731520"/>
          </a:xfrm>
          <a:prstGeom prst="rect">
            <a:avLst/>
          </a:prstGeom>
          <a:noFill/>
        </p:spPr>
        <p:txBody>
          <a:bodyPr wrap="square" anchor="t" lIns="0" rIns="0" tIns="0" bIns="0">
            <a:spAutoFit/>
          </a:bodyPr>
          <a:lstStyle/>
          <a:p>
            <a:pPr algn="l">
              <a:lnSpc>
                <a:spcPct val="125000"/>
              </a:lnSpc>
              <a:spcAft>
                <a:spcPts val="800"/>
              </a:spcAft>
            </a:pPr>
            <a:r>
              <a:rPr sz="1900" b="0" i="0">
                <a:solidFill>
                  <a:srgbClr val="E6EDF3"/>
                </a:solidFill>
                <a:latin typeface="Segoe UI"/>
              </a:rPr>
              <a:t>Hull. Reactor heat. A power budget five systems compete for. Six compartments. Eight crew, by name, in a room. </a:t>
            </a:r>
            <a:r>
              <a:rPr sz="1900" b="1" i="0">
                <a:solidFill>
                  <a:srgbClr val="F85149"/>
                </a:solidFill>
                <a:latin typeface="Segoe UI"/>
              </a:rPr>
              <a:t>Three of them are standing in the one that is losing its air.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WHY A STARSHIP</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A to-do app cannot fail interestingly</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State moves underneath the agent</a:t>
            </a:r>
            <a:r>
              <a:rPr sz="2300" b="0" i="0">
                <a:solidFill>
                  <a:srgbClr val="8B949E"/>
                </a:solidFill>
                <a:latin typeface="Segoe UI"/>
              </a:rPr>
              <a:t>  — between turns, without it being told</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Refusals are informative</a:t>
            </a:r>
            <a:r>
              <a:rPr sz="2300" b="0" i="0">
                <a:solidFill>
                  <a:srgbClr val="8B949E"/>
                </a:solidFill>
                <a:latin typeface="Segoe UI"/>
              </a:rPr>
              <a:t>  — “insufficient reactor output”, not an exception</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Consequences are asymmetric</a:t>
            </a:r>
            <a:r>
              <a:rPr sz="2300" b="0" i="0">
                <a:solidFill>
                  <a:srgbClr val="8B949E"/>
                </a:solidFill>
                <a:latin typeface="Segoe UI"/>
              </a:rPr>
              <a:t>  — some reversible, one of them kills people</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It is deterministic</a:t>
            </a:r>
            <a:r>
              <a:rPr sz="2300" b="0" i="0">
                <a:solidFill>
                  <a:srgbClr val="8B949E"/>
                </a:solidFill>
                <a:latin typeface="Segoe UI"/>
              </a:rPr>
              <a:t>  — same scenario, same seed, same voyage, every time</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1800" b="0" i="0">
                <a:solidFill>
                  <a:srgbClr val="8B949E"/>
                </a:solidFill>
                <a:latin typeface="Segoe UI"/>
              </a:rPr>
              <a:t>Also: nobody has ever been bored by a hull breach.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011680"/>
          </a:xfrm>
          <a:prstGeom prst="rect">
            <a:avLst/>
          </a:prstGeom>
          <a:noFill/>
        </p:spPr>
        <p:txBody>
          <a:bodyPr wrap="square" anchor="t" lIns="0" rIns="0" tIns="0" bIns="0">
            <a:spAutoFit/>
          </a:bodyPr>
          <a:lstStyle/>
          <a:p>
            <a:pPr algn="l">
              <a:lnSpc>
                <a:spcPct val="100000"/>
              </a:lnSpc>
              <a:spcAft>
                <a:spcPts val="800"/>
              </a:spcAft>
            </a:pPr>
            <a:r>
              <a:rPr sz="9600" b="1" i="0">
                <a:solidFill>
                  <a:srgbClr val="0D1117"/>
                </a:solidFill>
                <a:latin typeface="Segoe UI"/>
              </a:rPr>
              <a:t>DEMO</a:t>
            </a:r>
          </a:p>
          <a:p>
            <a:pPr algn="l">
              <a:lnSpc>
                <a:spcPct val="100000"/>
              </a:lnSpc>
              <a:spcAft>
                <a:spcPts val="800"/>
              </a:spcAft>
            </a:pPr>
            <a:r>
              <a:rPr sz="3800" b="0" i="0">
                <a:solidFill>
                  <a:srgbClr val="0D1117"/>
                </a:solidFill>
                <a:latin typeface="Segoe UI"/>
              </a:rPr>
              <a:t>Boot the ship</a:t>
            </a:r>
          </a:p>
        </p:txBody>
      </p:sp>
      <p:sp>
        <p:nvSpPr>
          <p:cNvPr id="4" name="TextBox 3"/>
          <p:cNvSpPr txBox="1"/>
          <p:nvPr/>
        </p:nvSpPr>
        <p:spPr>
          <a:xfrm>
            <a:off x="777240" y="4754880"/>
            <a:ext cx="10637215" cy="1097280"/>
          </a:xfrm>
          <a:prstGeom prst="rect">
            <a:avLst/>
          </a:prstGeom>
          <a:noFill/>
        </p:spPr>
        <p:txBody>
          <a:bodyPr wrap="square" anchor="t" lIns="0" rIns="0" tIns="0" bIns="0">
            <a:spAutoFit/>
          </a:bodyPr>
          <a:lstStyle/>
          <a:p>
            <a:pPr algn="l">
              <a:lnSpc>
                <a:spcPct val="130000"/>
              </a:lnSpc>
              <a:spcAft>
                <a:spcPts val="600"/>
              </a:spcAft>
            </a:pPr>
            <a:r>
              <a:rPr sz="2100" b="0" i="0">
                <a:solidFill>
                  <a:srgbClr val="5A420A"/>
                </a:solidFill>
                <a:latin typeface="Consolas"/>
              </a:rPr>
              <a:t>sweep the sector and tell me what's out there</a:t>
            </a:r>
          </a:p>
          <a:p>
            <a:pPr algn="l">
              <a:lnSpc>
                <a:spcPct val="130000"/>
              </a:lnSpc>
              <a:spcAft>
                <a:spcPts val="600"/>
              </a:spcAft>
            </a:pPr>
            <a:r>
              <a:rPr sz="2100" b="0" i="0">
                <a:solidFill>
                  <a:srgbClr val="5A420A"/>
                </a:solidFill>
                <a:latin typeface="Consolas"/>
              </a:rPr>
              <a:t>analyse C-1</a:t>
            </a:r>
          </a:p>
          <a:p>
            <a:pPr algn="l">
              <a:lnSpc>
                <a:spcPct val="130000"/>
              </a:lnSpc>
              <a:spcAft>
                <a:spcPts val="600"/>
              </a:spcAft>
            </a:pPr>
            <a:r>
              <a:rPr sz="2100" b="0" i="0">
                <a:solidFill>
                  <a:srgbClr val="5A420A"/>
                </a:solidFill>
                <a:latin typeface="Consolas"/>
              </a:rPr>
              <a:t>who's aboard, and where is everyone stationed?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FALLBACK  ·  T000  ·  DERELICT-FREIGHTER, SEED 1701</a:t>
            </a:r>
          </a:p>
        </p:txBody>
      </p:sp>
      <p:sp>
        <p:nvSpPr>
          <p:cNvPr id="3" name="Rectangle 2"/>
          <p:cNvSpPr/>
          <p:nvPr/>
        </p:nvSpPr>
        <p:spPr>
          <a:xfrm>
            <a:off x="777240" y="1051560"/>
            <a:ext cx="10637215" cy="4016502"/>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52728"/>
            <a:ext cx="10125151" cy="3614166"/>
          </a:xfrm>
          <a:prstGeom prst="rect">
            <a:avLst/>
          </a:prstGeom>
          <a:noFill/>
        </p:spPr>
        <p:txBody>
          <a:bodyPr wrap="square" anchor="t" lIns="0" rIns="0" tIns="0" bIns="0">
            <a:spAutoFit/>
          </a:bodyPr>
          <a:lstStyle/>
          <a:p>
            <a:pPr algn="l">
              <a:lnSpc>
                <a:spcPct val="100000"/>
              </a:lnSpc>
              <a:spcAft>
                <a:spcPts val="0"/>
              </a:spcAft>
            </a:pPr>
            <a:r>
              <a:rPr sz="1300" b="0" i="0">
                <a:solidFill>
                  <a:srgbClr val="E6EDF3"/>
                </a:solidFill>
                <a:latin typeface="Consolas"/>
              </a:rPr>
              <a:t>  ━━ T000 ━━ 🟢  GREEN  ━━━━━━━━━━━━━━━━━━━━━━━━━━━━━━━━━━━━━━━━━━━━</a:t>
            </a:r>
          </a:p>
          <a:p>
            <a:pPr algn="l">
              <a:lnSpc>
                <a:spcPct val="100000"/>
              </a:lnSpc>
              <a:spcAft>
                <a:spcPts val="0"/>
              </a:spcAft>
            </a:pPr>
            <a:r>
              <a:rPr sz="1300" b="0" i="0">
                <a:solidFill>
                  <a:srgbClr val="E6EDF3"/>
                </a:solidFill>
                <a:latin typeface="Consolas"/>
              </a:rPr>
              <a:t>     HULL     ██████████ 100      REACTOR  ██░░░░░░░░  18°</a:t>
            </a:r>
          </a:p>
          <a:p>
            <a:pPr algn="l">
              <a:lnSpc>
                <a:spcPct val="100000"/>
              </a:lnSpc>
              <a:spcAft>
                <a:spcPts val="0"/>
              </a:spcAft>
            </a:pPr>
            <a:r>
              <a:rPr sz="1300" b="0" i="0">
                <a:solidFill>
                  <a:srgbClr val="E6EDF3"/>
                </a:solidFill>
                <a:latin typeface="Consolas"/>
              </a:rPr>
              <a:t>     POWER     88%   ·   Engines 25 · Shields 10 · Weapons 0 · Life 33</a:t>
            </a:r>
          </a:p>
          <a:p>
            <a:pPr algn="l">
              <a:lnSpc>
                <a:spcPct val="100000"/>
              </a:lnSpc>
              <a:spcAft>
                <a:spcPts val="0"/>
              </a:spcAft>
            </a:pPr>
            <a:r>
              <a:rPr sz="1300" b="0" i="0">
                <a:solidFill>
                  <a:srgbClr val="E6EDF3"/>
                </a:solidFill>
                <a:latin typeface="Consolas"/>
              </a:rPr>
              <a:t>  ── COMPARTMENTS ──────────────────────────────────────────────────</a:t>
            </a:r>
          </a:p>
          <a:p>
            <a:pPr algn="l">
              <a:lnSpc>
                <a:spcPct val="100000"/>
              </a:lnSpc>
              <a:spcAft>
                <a:spcPts val="0"/>
              </a:spcAft>
            </a:pPr>
            <a:r>
              <a:rPr sz="1300" b="0" i="0">
                <a:solidFill>
                  <a:srgbClr val="E6EDF3"/>
                </a:solidFill>
                <a:latin typeface="Consolas"/>
              </a:rPr>
              <a:t>     ✅ Bridge        100               ✅ Medical Bay   100</a:t>
            </a:r>
          </a:p>
          <a:p>
            <a:pPr algn="l">
              <a:lnSpc>
                <a:spcPct val="100000"/>
              </a:lnSpc>
              <a:spcAft>
                <a:spcPts val="0"/>
              </a:spcAft>
            </a:pPr>
            <a:r>
              <a:rPr sz="1300" b="0" i="0">
                <a:solidFill>
                  <a:srgbClr val="E6EDF3"/>
                </a:solidFill>
                <a:latin typeface="Consolas"/>
              </a:rPr>
              <a:t>     ✅ Cargo Hold    100               ✅ Reactor Room  100</a:t>
            </a:r>
          </a:p>
          <a:p>
            <a:pPr algn="l">
              <a:lnSpc>
                <a:spcPct val="100000"/>
              </a:lnSpc>
              <a:spcAft>
                <a:spcPts val="0"/>
              </a:spcAft>
            </a:pPr>
            <a:r>
              <a:rPr sz="1300" b="0" i="0">
                <a:solidFill>
                  <a:srgbClr val="E6EDF3"/>
                </a:solidFill>
                <a:latin typeface="Consolas"/>
              </a:rPr>
              <a:t>     ✅ Engineering   100               ✅ Section C     100</a:t>
            </a:r>
          </a:p>
          <a:p>
            <a:pPr algn="l">
              <a:lnSpc>
                <a:spcPct val="100000"/>
              </a:lnSpc>
              <a:spcAft>
                <a:spcPts val="0"/>
              </a:spcAft>
            </a:pPr>
            <a:r>
              <a:rPr sz="1300" b="0" i="0">
                <a:solidFill>
                  <a:srgbClr val="E6EDF3"/>
                </a:solidFill>
                <a:latin typeface="Consolas"/>
              </a:rPr>
              <a:t>  ── CREW  8/8 ─────────────────────────────────────────────────────</a:t>
            </a:r>
          </a:p>
          <a:p>
            <a:pPr algn="l">
              <a:lnSpc>
                <a:spcPct val="100000"/>
              </a:lnSpc>
              <a:spcAft>
                <a:spcPts val="0"/>
              </a:spcAft>
            </a:pPr>
            <a:r>
              <a:rPr sz="1300" b="0" i="0">
                <a:solidFill>
                  <a:srgbClr val="E6EDF3"/>
                </a:solidFill>
                <a:latin typeface="Consolas"/>
              </a:rPr>
              <a:t>     Bridge          Ada Mirren, Jun Park</a:t>
            </a:r>
          </a:p>
          <a:p>
            <a:pPr algn="l">
              <a:lnSpc>
                <a:spcPct val="100000"/>
              </a:lnSpc>
              <a:spcAft>
                <a:spcPts val="0"/>
              </a:spcAft>
            </a:pPr>
            <a:r>
              <a:rPr sz="1300" b="0" i="0">
                <a:solidFill>
                  <a:srgbClr val="E6EDF3"/>
                </a:solidFill>
                <a:latin typeface="Consolas"/>
              </a:rPr>
              <a:t>     Engineering     Rosa Vance, Ilya Sokolov</a:t>
            </a:r>
          </a:p>
          <a:p>
            <a:pPr algn="l">
              <a:lnSpc>
                <a:spcPct val="100000"/>
              </a:lnSpc>
              <a:spcAft>
                <a:spcPts val="0"/>
              </a:spcAft>
            </a:pPr>
            <a:r>
              <a:rPr sz="1300" b="0" i="0">
                <a:solidFill>
                  <a:srgbClr val="E6EDF3"/>
                </a:solidFill>
                <a:latin typeface="Consolas"/>
              </a:rPr>
              <a:t>     Medical Bay     Amara Osei</a:t>
            </a:r>
          </a:p>
          <a:p>
            <a:pPr algn="l">
              <a:lnSpc>
                <a:spcPct val="100000"/>
              </a:lnSpc>
              <a:spcAft>
                <a:spcPts val="0"/>
              </a:spcAft>
            </a:pPr>
            <a:r>
              <a:rPr sz="1300" b="0" i="0">
                <a:solidFill>
                  <a:srgbClr val="E6EDF3"/>
                </a:solidFill>
                <a:latin typeface="Consolas"/>
              </a:rPr>
              <a:t>     Section C       Kai Tanaka, Mira Halloran, Dev Bhatt</a:t>
            </a:r>
          </a:p>
          <a:p>
            <a:pPr algn="l">
              <a:lnSpc>
                <a:spcPct val="100000"/>
              </a:lnSpc>
              <a:spcAft>
                <a:spcPts val="0"/>
              </a:spcAft>
            </a:pPr>
            <a:r>
              <a:rPr sz="1300" b="0" i="0">
                <a:solidFill>
                  <a:srgbClr val="E6EDF3"/>
                </a:solidFill>
                <a:latin typeface="Consolas"/>
              </a:rPr>
              <a:t>  ── CONTACTS ──────────────────────────────────────────────────────</a:t>
            </a:r>
          </a:p>
          <a:p>
            <a:pPr algn="l">
              <a:lnSpc>
                <a:spcPct val="100000"/>
              </a:lnSpc>
              <a:spcAft>
                <a:spcPts val="0"/>
              </a:spcAft>
            </a:pPr>
            <a:r>
              <a:rPr sz="1300" b="0" i="0">
                <a:solidFill>
                  <a:srgbClr val="E6EDF3"/>
                </a:solidFill>
                <a:latin typeface="Consolas"/>
              </a:rPr>
              <a:t>        nothing on the plot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0" i="0">
                <a:solidFill>
                  <a:srgbClr val="E6EDF3"/>
                </a:solidFill>
                <a:latin typeface="Consolas"/>
              </a:rPr>
              <a:t>  try: sweep the sector · who's aboard · read the log · /help</a:t>
            </a:r>
          </a:p>
          <a:p>
            <a:pPr algn="l">
              <a:lnSpc>
                <a:spcPct val="100000"/>
              </a:lnSpc>
              <a:spcAft>
                <a:spcPts val="0"/>
              </a:spcAft>
            </a:pPr>
            <a:r>
              <a:rPr sz="1300" b="0" i="0">
                <a:solidFill>
                  <a:srgbClr val="E6EDF3"/>
                </a:solidFill>
                <a:latin typeface="Consolas"/>
              </a:rPr>
              <a:t>  CAPTAIN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F0B429"/>
                </a:solidFill>
                <a:latin typeface="Consolas"/>
              </a:rPr>
              <a:t>02</a:t>
            </a:r>
          </a:p>
          <a:p>
            <a:pPr algn="l">
              <a:lnSpc>
                <a:spcPct val="110000"/>
              </a:lnSpc>
              <a:spcAft>
                <a:spcPts val="1600"/>
              </a:spcAft>
            </a:pPr>
            <a:r>
              <a:rPr sz="5800" b="1" i="0">
                <a:solidFill>
                  <a:srgbClr val="E6EDF3"/>
                </a:solidFill>
                <a:latin typeface="Segoe UI"/>
              </a:rPr>
              <a:t>How it is built</a:t>
            </a:r>
          </a:p>
          <a:p>
            <a:pPr algn="l">
              <a:lnSpc>
                <a:spcPct val="110000"/>
              </a:lnSpc>
              <a:spcAft>
                <a:spcPts val="1600"/>
              </a:spcAft>
            </a:pPr>
            <a:r>
              <a:rPr sz="2400" b="0" i="0">
                <a:solidFill>
                  <a:srgbClr val="8B949E"/>
                </a:solidFill>
                <a:latin typeface="Segoe UI"/>
              </a:rPr>
              <a:t>Twelve minutes, one project at a time. Nothing hidden.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LEVEL-SET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A harness is not a chat client</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A chat client</a:t>
            </a:r>
            <a:r>
              <a:rPr sz="2200" b="0" i="0">
                <a:solidFill>
                  <a:srgbClr val="8B949E"/>
                </a:solidFill>
                <a:latin typeface="Segoe UI"/>
              </a:rPr>
              <a:t>  sends messages and hands you back text. You write the loop.</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A harness is the loop</a:t>
            </a:r>
            <a:r>
              <a:rPr sz="2200" b="0" i="0">
                <a:solidFill>
                  <a:srgbClr val="8B949E"/>
                </a:solidFill>
                <a:latin typeface="Segoe UI"/>
              </a:rPr>
              <a:t>  — it keeps calling until the model stops asking for tools</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Context providers</a:t>
            </a:r>
            <a:r>
              <a:rPr sz="2200" b="0" i="0">
                <a:solidFill>
                  <a:srgbClr val="8B949E"/>
                </a:solidFill>
                <a:latin typeface="Segoe UI"/>
              </a:rPr>
              <a:t>  inject state into every turn, before the model sees it</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Batteries</a:t>
            </a:r>
            <a:r>
              <a:rPr sz="2200" b="0" i="0">
                <a:solidFill>
                  <a:srgbClr val="8B949E"/>
                </a:solidFill>
                <a:latin typeface="Segoe UI"/>
              </a:rPr>
              <a:t>  todo list, modes, compaction, file memory, web search, approval gate</a:t>
            </a:r>
          </a:p>
        </p:txBody>
      </p:sp>
      <p:sp>
        <p:nvSpPr>
          <p:cNvPr id="5" name="TextBox 4"/>
          <p:cNvSpPr txBox="1"/>
          <p:nvPr/>
        </p:nvSpPr>
        <p:spPr>
          <a:xfrm>
            <a:off x="777240" y="6291072"/>
            <a:ext cx="6382329" cy="274320"/>
          </a:xfrm>
          <a:prstGeom prst="rect">
            <a:avLst/>
          </a:prstGeom>
          <a:noFill/>
        </p:spPr>
        <p:txBody>
          <a:bodyPr wrap="square" anchor="t" lIns="0" rIns="0" tIns="0" bIns="0">
            <a:spAutoFit/>
          </a:bodyPr>
          <a:lstStyle/>
          <a:p>
            <a:pPr algn="l">
              <a:lnSpc>
                <a:spcPct val="115000"/>
              </a:lnSpc>
              <a:spcAft>
                <a:spcPts val="800"/>
              </a:spcAft>
            </a:pPr>
            <a:r>
              <a:rPr sz="1100" b="0" i="0">
                <a:solidFill>
                  <a:srgbClr val="8B949E"/>
                </a:solidFill>
                <a:latin typeface="Segoe UI"/>
              </a:rPr>
              <a:t>Microsoft.Agents.AI.Harness 1.15.0  ·  .NET 10  ·  new, moving, pinned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ARCHITECTURE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harness is an adapter over a domain</a:t>
            </a:r>
          </a:p>
        </p:txBody>
      </p:sp>
      <p:sp>
        <p:nvSpPr>
          <p:cNvPr id="4" name="Rectangle 3"/>
          <p:cNvSpPr/>
          <p:nvPr/>
        </p:nvSpPr>
        <p:spPr>
          <a:xfrm>
            <a:off x="777240" y="2148840"/>
            <a:ext cx="10637215" cy="272566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50008"/>
            <a:ext cx="10125151" cy="232332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ShipAI.Console          terminal host — REPL, slash commands, the tick</a:t>
            </a:r>
          </a:p>
          <a:p>
            <a:pPr algn="l">
              <a:lnSpc>
                <a:spcPct val="100000"/>
              </a:lnSpc>
              <a:spcAft>
                <a:spcPts val="0"/>
              </a:spcAft>
            </a:pPr>
            <a:r>
              <a:rPr sz="1500" b="0" i="0">
                <a:solidFill>
                  <a:srgbClr val="E6EDF3"/>
                </a:solidFill>
                <a:latin typeface="Consolas"/>
              </a:rPr>
              <a:t>                          ChatClientFactory: the model-provider seam</a:t>
            </a:r>
          </a:p>
          <a:p>
            <a:pPr algn="l">
              <a:lnSpc>
                <a:spcPct val="100000"/>
              </a:lnSpc>
              <a:spcAft>
                <a:spcPts val="0"/>
              </a:spcAft>
            </a:pPr>
            <a:r>
              <a:rPr sz="1500" b="0" i="0">
                <a:solidFill>
                  <a:srgbClr val="E6EDF3"/>
                </a:solidFill>
                <a:latin typeface="Consolas"/>
              </a:rPr>
              <a:t>                            │  references</a:t>
            </a:r>
          </a:p>
          <a:p>
            <a:pPr algn="l">
              <a:lnSpc>
                <a:spcPct val="100000"/>
              </a:lnSpc>
              <a:spcAft>
                <a:spcPts val="0"/>
              </a:spcAft>
            </a:pPr>
            <a:r>
              <a:rPr sz="1500" b="0" i="0">
                <a:solidFill>
                  <a:srgbClr val="E6EDF3"/>
                </a:solidFill>
                <a:latin typeface="Consolas"/>
              </a:rPr>
              <a:t>                            ▼</a:t>
            </a:r>
          </a:p>
          <a:p>
            <a:pPr algn="l">
              <a:lnSpc>
                <a:spcPct val="100000"/>
              </a:lnSpc>
              <a:spcAft>
                <a:spcPts val="0"/>
              </a:spcAft>
            </a:pPr>
            <a:r>
              <a:rPr sz="1500" b="0" i="0">
                <a:solidFill>
                  <a:srgbClr val="E6EDF3"/>
                </a:solidFill>
                <a:latin typeface="Consolas"/>
              </a:rPr>
              <a:t>  ShipAI.Agent             harness wiring</a:t>
            </a:r>
          </a:p>
          <a:p>
            <a:pPr algn="l">
              <a:lnSpc>
                <a:spcPct val="100000"/>
              </a:lnSpc>
              <a:spcAft>
                <a:spcPts val="0"/>
              </a:spcAft>
            </a:pPr>
            <a:r>
              <a:rPr sz="1500" b="0" i="0">
                <a:solidFill>
                  <a:srgbClr val="E6EDF3"/>
                </a:solidFill>
                <a:latin typeface="Consolas"/>
              </a:rPr>
              <a:t>                          ShipAgentFactory · Tools/ · Instructions/</a:t>
            </a:r>
          </a:p>
          <a:p>
            <a:pPr algn="l">
              <a:lnSpc>
                <a:spcPct val="100000"/>
              </a:lnSpc>
              <a:spcAft>
                <a:spcPts val="0"/>
              </a:spcAft>
            </a:pPr>
            <a:r>
              <a:rPr sz="1500" b="0" i="0">
                <a:solidFill>
                  <a:srgbClr val="E6EDF3"/>
                </a:solidFill>
                <a:latin typeface="Consolas"/>
              </a:rPr>
              <a:t>                            │  references</a:t>
            </a:r>
          </a:p>
          <a:p>
            <a:pPr algn="l">
              <a:lnSpc>
                <a:spcPct val="100000"/>
              </a:lnSpc>
              <a:spcAft>
                <a:spcPts val="0"/>
              </a:spcAft>
            </a:pPr>
            <a:r>
              <a:rPr sz="1500" b="0" i="0">
                <a:solidFill>
                  <a:srgbClr val="E6EDF3"/>
                </a:solidFill>
                <a:latin typeface="Consolas"/>
              </a:rPr>
              <a:t>                            ▼</a:t>
            </a:r>
          </a:p>
          <a:p>
            <a:pPr algn="l">
              <a:lnSpc>
                <a:spcPct val="100000"/>
              </a:lnSpc>
              <a:spcAft>
                <a:spcPts val="0"/>
              </a:spcAft>
            </a:pPr>
            <a:r>
              <a:rPr sz="1500" b="0" i="0">
                <a:solidFill>
                  <a:srgbClr val="E6EDF3"/>
                </a:solidFill>
                <a:latin typeface="Consolas"/>
              </a:rPr>
              <a:t>  ShipAI.Simulation        pure domain — BCL only</a:t>
            </a:r>
          </a:p>
          <a:p>
            <a:pPr algn="l">
              <a:lnSpc>
                <a:spcPct val="100000"/>
              </a:lnSpc>
              <a:spcAft>
                <a:spcPts val="0"/>
              </a:spcAft>
            </a:pPr>
            <a:r>
              <a:rPr sz="1500" b="0" i="0">
                <a:solidFill>
                  <a:srgbClr val="E6EDF3"/>
                </a:solidFill>
                <a:latin typeface="Consolas"/>
              </a:rPr>
              <a:t>                          ShipState · Commands/ · Scenarios/</a:t>
            </a:r>
          </a:p>
        </p:txBody>
      </p:sp>
      <p:sp>
        <p:nvSpPr>
          <p:cNvPr id="6" name="TextBox 5"/>
          <p:cNvSpPr txBox="1"/>
          <p:nvPr/>
        </p:nvSpPr>
        <p:spPr>
          <a:xfrm>
            <a:off x="777240" y="5806440"/>
            <a:ext cx="10637215" cy="548640"/>
          </a:xfrm>
          <a:prstGeom prst="rect">
            <a:avLst/>
          </a:prstGeom>
          <a:noFill/>
        </p:spPr>
        <p:txBody>
          <a:bodyPr wrap="square" anchor="t" lIns="0" rIns="0" tIns="0" bIns="0">
            <a:spAutoFit/>
          </a:bodyPr>
          <a:lstStyle/>
          <a:p>
            <a:pPr algn="l">
              <a:lnSpc>
                <a:spcPct val="115000"/>
              </a:lnSpc>
              <a:spcAft>
                <a:spcPts val="800"/>
              </a:spcAft>
            </a:pPr>
            <a:r>
              <a:rPr sz="2200" b="1" i="0">
                <a:solidFill>
                  <a:srgbClr val="E6EDF3"/>
                </a:solidFill>
                <a:latin typeface="Segoe UI"/>
              </a:rPr>
              <a:t>ShipAI.Simulation has no </a:t>
            </a:r>
            <a:r>
              <a:rPr sz="2200" b="1" i="0">
                <a:solidFill>
                  <a:srgbClr val="F0B429"/>
                </a:solidFill>
                <a:latin typeface="Consolas"/>
              </a:rPr>
              <a:t>PackageReference</a:t>
            </a:r>
            <a:r>
              <a:rPr sz="2200" b="1" i="0">
                <a:solidFill>
                  <a:srgbClr val="E6EDF3"/>
                </a:solidFill>
                <a:latin typeface="Segoe UI"/>
              </a:rPr>
              <a:t> at 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Booting the bridge</a:t>
            </a:r>
          </a:p>
        </p:txBody>
      </p:sp>
      <p:sp>
        <p:nvSpPr>
          <p:cNvPr id="4" name="Rectangle 3"/>
          <p:cNvSpPr/>
          <p:nvPr/>
        </p:nvSpPr>
        <p:spPr>
          <a:xfrm>
            <a:off x="777240" y="1874519"/>
            <a:ext cx="10637215" cy="345490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74519"/>
            <a:ext cx="38100" cy="345490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57399"/>
            <a:ext cx="10134295" cy="3089148"/>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var</a:t>
            </a:r>
            <a:r>
              <a:rPr sz="1300" b="0" i="0">
                <a:solidFill>
                  <a:srgbClr val="E6EDF3"/>
                </a:solidFill>
                <a:latin typeface="Consolas"/>
              </a:rPr>
              <a:t> scenario   = </a:t>
            </a:r>
            <a:r>
              <a:rPr sz="1300" b="0" i="0">
                <a:solidFill>
                  <a:srgbClr val="79D6BE"/>
                </a:solidFill>
                <a:latin typeface="Consolas"/>
              </a:rPr>
              <a:t>JsonScenario</a:t>
            </a:r>
            <a:r>
              <a:rPr sz="1300" b="0" i="0">
                <a:solidFill>
                  <a:srgbClr val="E6EDF3"/>
                </a:solidFill>
                <a:latin typeface="Consolas"/>
              </a:rPr>
              <a:t>.</a:t>
            </a:r>
            <a:r>
              <a:rPr sz="1300" b="0" i="0">
                <a:solidFill>
                  <a:srgbClr val="79D6BE"/>
                </a:solidFill>
                <a:latin typeface="Consolas"/>
              </a:rPr>
              <a:t>Load</a:t>
            </a:r>
            <a:r>
              <a:rPr sz="1300" b="0" i="0">
                <a:solidFill>
                  <a:srgbClr val="E6EDF3"/>
                </a:solidFill>
                <a:latin typeface="Consolas"/>
              </a:rPr>
              <a:t>(config[</a:t>
            </a:r>
            <a:r>
              <a:rPr sz="1300" b="0" i="0">
                <a:solidFill>
                  <a:srgbClr val="9FD98A"/>
                </a:solidFill>
                <a:latin typeface="Consolas"/>
              </a:rPr>
              <a:t>"SHIPAI_SCENARIO"</a:t>
            </a:r>
            <a:r>
              <a:rPr sz="1300" b="0" i="0">
                <a:solidFill>
                  <a:srgbClr val="E6EDF3"/>
                </a:solidFill>
                <a:latin typeface="Consolas"/>
              </a:rPr>
              <a:t>] ?? </a:t>
            </a:r>
            <a:r>
              <a:rPr sz="1300" b="0" i="0">
                <a:solidFill>
                  <a:srgbClr val="9FD98A"/>
                </a:solidFill>
                <a:latin typeface="Consolas"/>
              </a:rPr>
              <a:t>"derelict-freighter"</a:t>
            </a:r>
            <a:r>
              <a:rPr sz="1300" b="0" i="0">
                <a:solidFill>
                  <a:srgbClr val="E6EDF3"/>
                </a:solidFill>
                <a:latin typeface="Consolas"/>
              </a:rPr>
              <a:t>);</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seed       = </a:t>
            </a:r>
            <a:r>
              <a:rPr sz="1300" b="0" i="0">
                <a:solidFill>
                  <a:srgbClr val="7FB6FF"/>
                </a:solidFill>
                <a:latin typeface="Consolas"/>
              </a:rPr>
              <a:t>int</a:t>
            </a:r>
            <a:r>
              <a:rPr sz="1300" b="0" i="0">
                <a:solidFill>
                  <a:srgbClr val="E6EDF3"/>
                </a:solidFill>
                <a:latin typeface="Consolas"/>
              </a:rPr>
              <a:t>.</a:t>
            </a:r>
            <a:r>
              <a:rPr sz="1300" b="0" i="0">
                <a:solidFill>
                  <a:srgbClr val="79D6BE"/>
                </a:solidFill>
                <a:latin typeface="Consolas"/>
              </a:rPr>
              <a:t>TryParse</a:t>
            </a:r>
            <a:r>
              <a:rPr sz="1300" b="0" i="0">
                <a:solidFill>
                  <a:srgbClr val="E6EDF3"/>
                </a:solidFill>
                <a:latin typeface="Consolas"/>
              </a:rPr>
              <a:t>(config[</a:t>
            </a:r>
            <a:r>
              <a:rPr sz="1300" b="0" i="0">
                <a:solidFill>
                  <a:srgbClr val="9FD98A"/>
                </a:solidFill>
                <a:latin typeface="Consolas"/>
              </a:rPr>
              <a:t>"SHIPAI_SEED"</a:t>
            </a:r>
            <a:r>
              <a:rPr sz="1300" b="0" i="0">
                <a:solidFill>
                  <a:srgbClr val="E6EDF3"/>
                </a:solidFill>
                <a:latin typeface="Consolas"/>
              </a:rPr>
              <a:t>], </a:t>
            </a:r>
            <a:r>
              <a:rPr sz="1300" b="0" i="0">
                <a:solidFill>
                  <a:srgbClr val="7FB6FF"/>
                </a:solidFill>
                <a:latin typeface="Consolas"/>
              </a:rPr>
              <a:t>out</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configured) ? configured : </a:t>
            </a:r>
            <a:r>
              <a:rPr sz="1300" b="0" i="0">
                <a:solidFill>
                  <a:srgbClr val="E8A87C"/>
                </a:solidFill>
                <a:latin typeface="Consolas"/>
              </a:rPr>
              <a:t>1701</a:t>
            </a:r>
            <a:r>
              <a:rPr sz="1300" b="0" i="0">
                <a:solidFill>
                  <a:srgbClr val="E6EDF3"/>
                </a:solidFill>
                <a:latin typeface="Consolas"/>
              </a:rPr>
              <a:t>;</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simulation = </a:t>
            </a:r>
            <a:r>
              <a:rPr sz="1300" b="0" i="0">
                <a:solidFill>
                  <a:srgbClr val="7FB6FF"/>
                </a:solidFill>
                <a:latin typeface="Consolas"/>
              </a:rPr>
              <a:t>new</a:t>
            </a:r>
            <a:r>
              <a:rPr sz="1300" b="0" i="0">
                <a:solidFill>
                  <a:srgbClr val="E6EDF3"/>
                </a:solidFill>
                <a:latin typeface="Consolas"/>
              </a:rPr>
              <a:t> </a:t>
            </a:r>
            <a:r>
              <a:rPr sz="1300" b="0" i="0">
                <a:solidFill>
                  <a:srgbClr val="79D6BE"/>
                </a:solidFill>
                <a:latin typeface="Consolas"/>
              </a:rPr>
              <a:t>ShipSimulation</a:t>
            </a:r>
            <a:r>
              <a:rPr sz="1300" b="0" i="0">
                <a:solidFill>
                  <a:srgbClr val="E6EDF3"/>
                </a:solidFill>
                <a:latin typeface="Consolas"/>
              </a:rPr>
              <a:t>(scenario, seed);</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FB6FF"/>
                </a:solidFill>
                <a:latin typeface="Consolas"/>
              </a:rPr>
              <a:t>using</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chatClient = </a:t>
            </a:r>
            <a:r>
              <a:rPr sz="1300" b="0" i="0">
                <a:solidFill>
                  <a:srgbClr val="79D6BE"/>
                </a:solidFill>
                <a:latin typeface="Consolas"/>
              </a:rPr>
              <a:t>ChatClientFactory</a:t>
            </a:r>
            <a:r>
              <a:rPr sz="1300" b="0" i="0">
                <a:solidFill>
                  <a:srgbClr val="E6EDF3"/>
                </a:solidFill>
                <a:latin typeface="Consolas"/>
              </a:rPr>
              <a:t>.</a:t>
            </a:r>
            <a:r>
              <a:rPr sz="1300" b="0" i="0">
                <a:solidFill>
                  <a:srgbClr val="79D6BE"/>
                </a:solidFill>
                <a:latin typeface="Consolas"/>
              </a:rPr>
              <a:t>Create</a:t>
            </a:r>
            <a:r>
              <a:rPr sz="1300" b="0" i="0">
                <a:solidFill>
                  <a:srgbClr val="E6EDF3"/>
                </a:solidFill>
                <a:latin typeface="Consolas"/>
              </a:rPr>
              <a:t>(config);</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aurora  = </a:t>
            </a:r>
            <a:r>
              <a:rPr sz="1300" b="0" i="0">
                <a:solidFill>
                  <a:srgbClr val="79D6BE"/>
                </a:solidFill>
                <a:latin typeface="Consolas"/>
              </a:rPr>
              <a:t>ShipAgentFactory</a:t>
            </a:r>
            <a:r>
              <a:rPr sz="1300" b="0" i="0">
                <a:solidFill>
                  <a:srgbClr val="E6EDF3"/>
                </a:solidFill>
                <a:latin typeface="Consolas"/>
              </a:rPr>
              <a:t>.</a:t>
            </a:r>
            <a:r>
              <a:rPr sz="1300" b="0" i="0">
                <a:solidFill>
                  <a:srgbClr val="79D6BE"/>
                </a:solidFill>
                <a:latin typeface="Consolas"/>
              </a:rPr>
              <a:t>Create</a:t>
            </a:r>
            <a:r>
              <a:rPr sz="1300" b="0" i="0">
                <a:solidFill>
                  <a:srgbClr val="E6EDF3"/>
                </a:solidFill>
                <a:latin typeface="Consolas"/>
              </a:rPr>
              <a:t>(chatClient, simulation);</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session = </a:t>
            </a:r>
            <a:r>
              <a:rPr sz="1300" b="0" i="0">
                <a:solidFill>
                  <a:srgbClr val="7FB6FF"/>
                </a:solidFill>
                <a:latin typeface="Consolas"/>
              </a:rPr>
              <a:t>await</a:t>
            </a:r>
            <a:r>
              <a:rPr sz="1300" b="0" i="0">
                <a:solidFill>
                  <a:srgbClr val="E6EDF3"/>
                </a:solidFill>
                <a:latin typeface="Consolas"/>
              </a:rPr>
              <a:t> aurora.</a:t>
            </a:r>
            <a:r>
              <a:rPr sz="1300" b="0" i="0">
                <a:solidFill>
                  <a:srgbClr val="79D6BE"/>
                </a:solidFill>
                <a:latin typeface="Consolas"/>
              </a:rPr>
              <a:t>CreateSessionAsync</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Banner</a:t>
            </a:r>
            <a:r>
              <a:rPr sz="1300" b="0" i="0">
                <a:solidFill>
                  <a:srgbClr val="E6EDF3"/>
                </a:solidFill>
                <a:latin typeface="Consolas"/>
              </a:rPr>
              <a:t>(scenario.</a:t>
            </a:r>
            <a:r>
              <a:rPr sz="1300" b="0" i="0">
                <a:solidFill>
                  <a:srgbClr val="79D6BE"/>
                </a:solidFill>
                <a:latin typeface="Consolas"/>
              </a:rPr>
              <a:t>Name</a:t>
            </a:r>
            <a:r>
              <a:rPr sz="1300" b="0" i="0">
                <a:solidFill>
                  <a:srgbClr val="E6EDF3"/>
                </a:solidFill>
                <a:latin typeface="Consolas"/>
              </a:rPr>
              <a:t>, scenario.</a:t>
            </a:r>
            <a:r>
              <a:rPr sz="1300" b="0" i="0">
                <a:solidFill>
                  <a:srgbClr val="79D6BE"/>
                </a:solidFill>
                <a:latin typeface="Consolas"/>
              </a:rPr>
              <a:t>Briefing</a:t>
            </a:r>
            <a:r>
              <a:rPr sz="1300" b="0" i="0">
                <a:solidFill>
                  <a:srgbClr val="E6EDF3"/>
                </a:solidFill>
                <a:latin typeface="Consolas"/>
              </a:rPr>
              <a:t>);</a:t>
            </a:r>
          </a:p>
          <a:p>
            <a:pPr algn="l">
              <a:lnSpc>
                <a:spcPct val="100000"/>
              </a:lnSpc>
              <a:spcAft>
                <a:spcPts val="0"/>
              </a:spcAft>
            </a:pP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StatusPanel</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6A7889"/>
                </a:solidFill>
                <a:latin typeface="Consolas"/>
              </a:rPr>
              <a:t>// AURORA speaks first, so a voyage opens with a situation report rather</a:t>
            </a:r>
          </a:p>
          <a:p>
            <a:pPr algn="l">
              <a:lnSpc>
                <a:spcPct val="100000"/>
              </a:lnSpc>
              <a:spcAft>
                <a:spcPts val="0"/>
              </a:spcAft>
            </a:pPr>
            <a:r>
              <a:rPr sz="1300" b="0" i="0">
                <a:solidFill>
                  <a:srgbClr val="6A7889"/>
                </a:solidFill>
                <a:latin typeface="Consolas"/>
              </a:rPr>
              <a:t>// than a blinking cursor. A stage direction: not logged, and not ticked.</a:t>
            </a:r>
          </a:p>
          <a:p>
            <a:pPr algn="l">
              <a:lnSpc>
                <a:spcPct val="100000"/>
              </a:lnSpc>
              <a:spcAft>
                <a:spcPts val="0"/>
              </a:spcAft>
            </a:pPr>
            <a:r>
              <a:rPr sz="1300" b="0" i="0">
                <a:solidFill>
                  <a:srgbClr val="7FB6FF"/>
                </a:solidFill>
                <a:latin typeface="Consolas"/>
              </a:rPr>
              <a:t>await</a:t>
            </a:r>
            <a:r>
              <a:rPr sz="1300" b="0" i="0">
                <a:solidFill>
                  <a:srgbClr val="E6EDF3"/>
                </a:solidFill>
                <a:latin typeface="Consolas"/>
              </a:rPr>
              <a:t> </a:t>
            </a:r>
            <a:r>
              <a:rPr sz="1300" b="0" i="0">
                <a:solidFill>
                  <a:srgbClr val="79D6BE"/>
                </a:solidFill>
                <a:latin typeface="Consolas"/>
              </a:rPr>
              <a:t>RunAuroraTurnAsync</a:t>
            </a:r>
            <a:r>
              <a:rPr sz="1300" b="0" i="0">
                <a:solidFill>
                  <a:srgbClr val="E6EDF3"/>
                </a:solidFill>
                <a:latin typeface="Consolas"/>
              </a:rPr>
              <a:t>(</a:t>
            </a:r>
            <a:r>
              <a:rPr sz="1300" b="0" i="0">
                <a:solidFill>
                  <a:srgbClr val="9FD98A"/>
                </a:solidFill>
                <a:latin typeface="Consolas"/>
              </a:rPr>
              <a:t>"Captain on the bridge. Awaiting orders."</a:t>
            </a:r>
            <a:r>
              <a:rPr sz="1300" b="0" i="0">
                <a:solidFill>
                  <a:srgbClr val="E6EDF3"/>
                </a:solidFill>
                <a:latin typeface="Consolas"/>
              </a:rPr>
              <a:t>);</a:t>
            </a:r>
          </a:p>
        </p:txBody>
      </p:sp>
      <p:sp>
        <p:nvSpPr>
          <p:cNvPr id="7" name="TextBox 6"/>
          <p:cNvSpPr txBox="1"/>
          <p:nvPr/>
        </p:nvSpPr>
        <p:spPr>
          <a:xfrm>
            <a:off x="777240" y="5558027"/>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Top-level statements, no DI container, no startup class. </a:t>
            </a:r>
            <a:r>
              <a:rPr sz="1600" b="1" i="0">
                <a:solidFill>
                  <a:srgbClr val="E6EDF3"/>
                </a:solidFill>
                <a:latin typeface="Segoe UI"/>
              </a:rPr>
              <a:t>A scenario, a seed, a chat client, an agent, a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One order, one turn, one tick</a:t>
            </a:r>
          </a:p>
        </p:txBody>
      </p:sp>
      <p:sp>
        <p:nvSpPr>
          <p:cNvPr id="4" name="Rectangle 3"/>
          <p:cNvSpPr/>
          <p:nvPr/>
        </p:nvSpPr>
        <p:spPr>
          <a:xfrm>
            <a:off x="777240" y="1874519"/>
            <a:ext cx="10637215" cy="4273804"/>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74519"/>
            <a:ext cx="38100" cy="4273804"/>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57399"/>
            <a:ext cx="10134295" cy="3908044"/>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while</a:t>
            </a:r>
            <a:r>
              <a:rPr sz="1300" b="0" i="0">
                <a:solidFill>
                  <a:srgbClr val="E6EDF3"/>
                </a:solidFill>
                <a:latin typeface="Consolas"/>
              </a:rPr>
              <a:t> (</a:t>
            </a:r>
            <a:r>
              <a:rPr sz="1300" b="0" i="0">
                <a:solidFill>
                  <a:srgbClr val="7FB6FF"/>
                </a:solidFill>
                <a:latin typeface="Consolas"/>
              </a:rPr>
              <a:t>true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order =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Prompt</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(order </a:t>
            </a:r>
            <a:r>
              <a:rPr sz="1300" b="0" i="0">
                <a:solidFill>
                  <a:srgbClr val="7FB6FF"/>
                </a:solidFill>
                <a:latin typeface="Consolas"/>
              </a:rPr>
              <a:t>is</a:t>
            </a:r>
            <a:r>
              <a:rPr sz="1300" b="0" i="0">
                <a:solidFill>
                  <a:srgbClr val="E6EDF3"/>
                </a:solidFill>
                <a:latin typeface="Consolas"/>
              </a:rPr>
              <a:t> </a:t>
            </a:r>
            <a:r>
              <a:rPr sz="1300" b="0" i="0">
                <a:solidFill>
                  <a:srgbClr val="7FB6FF"/>
                </a:solidFill>
                <a:latin typeface="Consolas"/>
              </a:rPr>
              <a:t>null</a:t>
            </a:r>
            <a:r>
              <a:rPr sz="1300" b="0" i="0">
                <a:solidFill>
                  <a:srgbClr val="E6EDF3"/>
                </a:solidFill>
                <a:latin typeface="Consolas"/>
              </a:rPr>
              <a:t> </a:t>
            </a:r>
            <a:r>
              <a:rPr sz="1300" b="0" i="0">
                <a:solidFill>
                  <a:srgbClr val="7FB6FF"/>
                </a:solidFill>
                <a:latin typeface="Consolas"/>
              </a:rPr>
              <a:t>or</a:t>
            </a:r>
            <a:r>
              <a:rPr sz="1300" b="0" i="0">
                <a:solidFill>
                  <a:srgbClr val="E6EDF3"/>
                </a:solidFill>
                <a:latin typeface="Consolas"/>
              </a:rPr>
              <a:t> </a:t>
            </a:r>
            <a:r>
              <a:rPr sz="1300" b="0" i="0">
                <a:solidFill>
                  <a:srgbClr val="9FD98A"/>
                </a:solidFill>
                <a:latin typeface="Consolas"/>
              </a:rPr>
              <a:t>"/quit"</a:t>
            </a:r>
            <a:r>
              <a:rPr sz="1300" b="0" i="0">
                <a:solidFill>
                  <a:srgbClr val="E6EDF3"/>
                </a:solidFill>
                <a:latin typeface="Consolas"/>
              </a:rPr>
              <a:t>)  </a:t>
            </a:r>
            <a:r>
              <a:rPr sz="1300" b="0" i="0">
                <a:solidFill>
                  <a:srgbClr val="7FB6FF"/>
                </a:solidFill>
                <a:latin typeface="Consolas"/>
              </a:rPr>
              <a:t>break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(order.</a:t>
            </a:r>
            <a:r>
              <a:rPr sz="1300" b="0" i="0">
                <a:solidFill>
                  <a:srgbClr val="79D6BE"/>
                </a:solidFill>
                <a:latin typeface="Consolas"/>
              </a:rPr>
              <a:t>StartsWith</a:t>
            </a:r>
            <a:r>
              <a:rPr sz="1300" b="0" i="0">
                <a:solidFill>
                  <a:srgbClr val="E6EDF3"/>
                </a:solidFill>
                <a:latin typeface="Consolas"/>
              </a:rPr>
              <a:t>('/'))     { </a:t>
            </a:r>
            <a:r>
              <a:rPr sz="1300" b="0" i="0">
                <a:solidFill>
                  <a:srgbClr val="79D6BE"/>
                </a:solidFill>
                <a:latin typeface="Consolas"/>
              </a:rPr>
              <a:t>RunSlashCommand</a:t>
            </a:r>
            <a:r>
              <a:rPr sz="1300" b="0" i="0">
                <a:solidFill>
                  <a:srgbClr val="E6EDF3"/>
                </a:solidFill>
                <a:latin typeface="Consolas"/>
              </a:rPr>
              <a:t>(order); </a:t>
            </a:r>
            <a:r>
              <a:rPr sz="1300" b="0" i="0">
                <a:solidFill>
                  <a:srgbClr val="7FB6FF"/>
                </a:solidFill>
                <a:latin typeface="Consolas"/>
              </a:rPr>
              <a:t>continue</a:t>
            </a: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Captain</a:t>
            </a:r>
            <a:r>
              <a:rPr sz="1300" b="0" i="0">
                <a:solidFill>
                  <a:srgbClr val="E6EDF3"/>
                </a:solidFill>
                <a:latin typeface="Consolas"/>
              </a:rPr>
              <a:t>, order);</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a:t>
            </a:r>
            <a:r>
              <a:rPr sz="1300" b="0" i="0">
                <a:solidFill>
                  <a:srgbClr val="7FB6FF"/>
                </a:solidFill>
                <a:latin typeface="Consolas"/>
              </a:rPr>
              <a:t>await</a:t>
            </a:r>
            <a:r>
              <a:rPr sz="1300" b="0" i="0">
                <a:solidFill>
                  <a:srgbClr val="E6EDF3"/>
                </a:solidFill>
                <a:latin typeface="Consolas"/>
              </a:rPr>
              <a:t> </a:t>
            </a:r>
            <a:r>
              <a:rPr sz="1300" b="0" i="0">
                <a:solidFill>
                  <a:srgbClr val="79D6BE"/>
                </a:solidFill>
                <a:latin typeface="Consolas"/>
              </a:rPr>
              <a:t>RunAuroraTurnAsync</a:t>
            </a:r>
            <a:r>
              <a:rPr sz="1300" b="0" i="0">
                <a:solidFill>
                  <a:srgbClr val="E6EDF3"/>
                </a:solidFill>
                <a:latin typeface="Consolas"/>
              </a:rPr>
              <a:t>(order)) </a:t>
            </a:r>
            <a:r>
              <a:rPr sz="1300" b="0" i="0">
                <a:solidFill>
                  <a:srgbClr val="7FB6FF"/>
                </a:solidFill>
                <a:latin typeface="Consolas"/>
              </a:rPr>
              <a:t>continue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6A7889"/>
                </a:solidFill>
                <a:latin typeface="Consolas"/>
              </a:rPr>
              <a:t>// One tick per completed agent turn. The world moves when the agent acts,</a:t>
            </a:r>
          </a:p>
          <a:p>
            <a:pPr algn="l">
              <a:lnSpc>
                <a:spcPct val="100000"/>
              </a:lnSpc>
              <a:spcAft>
                <a:spcPts val="0"/>
              </a:spcAft>
            </a:pPr>
            <a:r>
              <a:rPr sz="1300" b="0" i="0">
                <a:solidFill>
                  <a:srgbClr val="E6EDF3"/>
                </a:solidFill>
                <a:latin typeface="Consolas"/>
              </a:rPr>
              <a:t>    </a:t>
            </a:r>
            <a:r>
              <a:rPr sz="1300" b="0" i="0">
                <a:solidFill>
                  <a:srgbClr val="6A7889"/>
                </a:solidFill>
                <a:latin typeface="Consolas"/>
              </a:rPr>
              <a:t>// not on a wall clock — which is exactly what makes this reproducible.</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mark = 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Count</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simulation.</a:t>
            </a:r>
            <a:r>
              <a:rPr sz="1300" b="0" i="0">
                <a:solidFill>
                  <a:srgbClr val="79D6BE"/>
                </a:solidFill>
                <a:latin typeface="Consolas"/>
              </a:rPr>
              <a:t>Tick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Events</a:t>
            </a:r>
            <a:r>
              <a:rPr sz="1300" b="0" i="0">
                <a:solidFill>
                  <a:srgbClr val="E6EDF3"/>
                </a:solidFill>
                <a:latin typeface="Consolas"/>
              </a:rPr>
              <a:t>(simulation.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Since</a:t>
            </a:r>
            <a:r>
              <a:rPr sz="1300" b="0" i="0">
                <a:solidFill>
                  <a:srgbClr val="E6EDF3"/>
                </a:solidFill>
                <a:latin typeface="Consolas"/>
              </a:rPr>
              <a:t>(mark));</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StatusPanel</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331203"/>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The tick is the host's business in milestone 1. </a:t>
            </a:r>
            <a:r>
              <a:rPr sz="1600" b="0" i="0">
                <a:solidFill>
                  <a:srgbClr val="F0B429"/>
                </a:solidFill>
                <a:latin typeface="Segoe UI"/>
              </a:rPr>
              <a:t>Milestone 2 moves it into the context provider — advancing the world is an ambient concern of the turn, not of whichever UI is attached.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 — RunAuroraTurnAsync</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One turn, streamed to the bridge</a:t>
            </a:r>
          </a:p>
        </p:txBody>
      </p:sp>
      <p:sp>
        <p:nvSpPr>
          <p:cNvPr id="4" name="Rectangle 3"/>
          <p:cNvSpPr/>
          <p:nvPr/>
        </p:nvSpPr>
        <p:spPr>
          <a:xfrm>
            <a:off x="777240" y="1920240"/>
            <a:ext cx="10637215" cy="3029712"/>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920240"/>
            <a:ext cx="38100" cy="3029712"/>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03120"/>
            <a:ext cx="10134295" cy="2663952"/>
          </a:xfrm>
          <a:prstGeom prst="rect">
            <a:avLst/>
          </a:prstGeom>
          <a:noFill/>
        </p:spPr>
        <p:txBody>
          <a:bodyPr wrap="square" anchor="t" lIns="0" rIns="0" tIns="0" bIns="0">
            <a:spAutoFit/>
          </a:bodyPr>
          <a:lstStyle/>
          <a:p>
            <a:pPr algn="l">
              <a:lnSpc>
                <a:spcPct val="100000"/>
              </a:lnSpc>
              <a:spcAft>
                <a:spcPts val="0"/>
              </a:spcAft>
            </a:pPr>
            <a:r>
              <a:rPr sz="1400" b="0" i="0">
                <a:solidFill>
                  <a:srgbClr val="7FB6FF"/>
                </a:solidFill>
                <a:latin typeface="Consolas"/>
              </a:rPr>
              <a:t>await</a:t>
            </a:r>
            <a:r>
              <a:rPr sz="1400" b="0" i="0">
                <a:solidFill>
                  <a:srgbClr val="E6EDF3"/>
                </a:solidFill>
                <a:latin typeface="Consolas"/>
              </a:rPr>
              <a:t> </a:t>
            </a:r>
            <a:r>
              <a:rPr sz="1400" b="0" i="0">
                <a:solidFill>
                  <a:srgbClr val="7FB6FF"/>
                </a:solidFill>
                <a:latin typeface="Consolas"/>
              </a:rPr>
              <a:t>foreach</a:t>
            </a:r>
            <a:r>
              <a:rPr sz="1400" b="0" i="0">
                <a:solidFill>
                  <a:srgbClr val="E6EDF3"/>
                </a:solidFill>
                <a:latin typeface="Consolas"/>
              </a:rPr>
              <a:t> (</a:t>
            </a:r>
            <a:r>
              <a:rPr sz="1400" b="0" i="0">
                <a:solidFill>
                  <a:srgbClr val="7FB6FF"/>
                </a:solidFill>
                <a:latin typeface="Consolas"/>
              </a:rPr>
              <a:t>var</a:t>
            </a:r>
            <a:r>
              <a:rPr sz="1400" b="0" i="0">
                <a:solidFill>
                  <a:srgbClr val="E6EDF3"/>
                </a:solidFill>
                <a:latin typeface="Consolas"/>
              </a:rPr>
              <a:t> update </a:t>
            </a:r>
            <a:r>
              <a:rPr sz="1400" b="0" i="0">
                <a:solidFill>
                  <a:srgbClr val="7FB6FF"/>
                </a:solidFill>
                <a:latin typeface="Consolas"/>
              </a:rPr>
              <a:t>in</a:t>
            </a:r>
            <a:r>
              <a:rPr sz="1400" b="0" i="0">
                <a:solidFill>
                  <a:srgbClr val="E6EDF3"/>
                </a:solidFill>
                <a:latin typeface="Consolas"/>
              </a:rPr>
              <a:t> aurora.</a:t>
            </a:r>
            <a:r>
              <a:rPr sz="1400" b="0" i="0">
                <a:solidFill>
                  <a:srgbClr val="79D6BE"/>
                </a:solidFill>
                <a:latin typeface="Consolas"/>
              </a:rPr>
              <a:t>RunStreamingAsync</a:t>
            </a:r>
            <a:r>
              <a:rPr sz="1400" b="0" i="0">
                <a:solidFill>
                  <a:srgbClr val="E6EDF3"/>
                </a:solidFill>
                <a:latin typeface="Consolas"/>
              </a:rPr>
              <a:t>(order, session))</a:t>
            </a:r>
          </a:p>
          <a:p>
            <a:pPr algn="l">
              <a:lnSpc>
                <a:spcPct val="100000"/>
              </a:lnSpc>
              <a:spcAft>
                <a:spcPts val="0"/>
              </a:spcAft>
            </a:pPr>
            <a:r>
              <a:rPr sz="1400" b="0" i="0">
                <a:solidFill>
                  <a:srgbClr val="E6EDF3"/>
                </a:solidFill>
                <a:latin typeface="Consolas"/>
              </a:rPr>
              <a:t>{</a:t>
            </a:r>
          </a:p>
          <a:p>
            <a:pPr algn="l">
              <a:lnSpc>
                <a:spcPct val="100000"/>
              </a:lnSpc>
              <a:spcAft>
                <a:spcPts val="0"/>
              </a:spcAft>
            </a:pPr>
            <a:r>
              <a:rPr sz="1400" b="0" i="0">
                <a:solidFill>
                  <a:srgbClr val="E6EDF3"/>
                </a:solidFill>
                <a:latin typeface="Consolas"/>
              </a:rPr>
              <a:t>    </a:t>
            </a:r>
            <a:r>
              <a:rPr sz="1400" b="0" i="0">
                <a:solidFill>
                  <a:srgbClr val="7FB6FF"/>
                </a:solidFill>
                <a:latin typeface="Consolas"/>
              </a:rPr>
              <a:t>foreach</a:t>
            </a:r>
            <a:r>
              <a:rPr sz="1400" b="0" i="0">
                <a:solidFill>
                  <a:srgbClr val="E6EDF3"/>
                </a:solidFill>
                <a:latin typeface="Consolas"/>
              </a:rPr>
              <a:t> (</a:t>
            </a:r>
            <a:r>
              <a:rPr sz="1400" b="0" i="0">
                <a:solidFill>
                  <a:srgbClr val="7FB6FF"/>
                </a:solidFill>
                <a:latin typeface="Consolas"/>
              </a:rPr>
              <a:t>var</a:t>
            </a:r>
            <a:r>
              <a:rPr sz="1400" b="0" i="0">
                <a:solidFill>
                  <a:srgbClr val="E6EDF3"/>
                </a:solidFill>
                <a:latin typeface="Consolas"/>
              </a:rPr>
              <a:t> call </a:t>
            </a:r>
            <a:r>
              <a:rPr sz="1400" b="0" i="0">
                <a:solidFill>
                  <a:srgbClr val="7FB6FF"/>
                </a:solidFill>
                <a:latin typeface="Consolas"/>
              </a:rPr>
              <a:t>in</a:t>
            </a:r>
            <a:r>
              <a:rPr sz="1400" b="0" i="0">
                <a:solidFill>
                  <a:srgbClr val="E6EDF3"/>
                </a:solidFill>
                <a:latin typeface="Consolas"/>
              </a:rPr>
              <a:t> update.</a:t>
            </a:r>
            <a:r>
              <a:rPr sz="1400" b="0" i="0">
                <a:solidFill>
                  <a:srgbClr val="79D6BE"/>
                </a:solidFill>
                <a:latin typeface="Consolas"/>
              </a:rPr>
              <a:t>Contents</a:t>
            </a:r>
            <a:r>
              <a:rPr sz="1400" b="0" i="0">
                <a:solidFill>
                  <a:srgbClr val="E6EDF3"/>
                </a:solidFill>
                <a:latin typeface="Consolas"/>
              </a:rPr>
              <a:t>.</a:t>
            </a:r>
            <a:r>
              <a:rPr sz="1400" b="0" i="0">
                <a:solidFill>
                  <a:srgbClr val="79D6BE"/>
                </a:solidFill>
                <a:latin typeface="Consolas"/>
              </a:rPr>
              <a:t>OfType</a:t>
            </a:r>
            <a:r>
              <a:rPr sz="1400" b="0" i="0">
                <a:solidFill>
                  <a:srgbClr val="E6EDF3"/>
                </a:solidFill>
                <a:latin typeface="Consolas"/>
              </a:rPr>
              <a:t>&lt;</a:t>
            </a:r>
            <a:r>
              <a:rPr sz="1400" b="0" i="0">
                <a:solidFill>
                  <a:srgbClr val="79D6BE"/>
                </a:solidFill>
                <a:latin typeface="Consolas"/>
              </a:rPr>
              <a:t>FunctionCallContent</a:t>
            </a:r>
            <a:r>
              <a:rPr sz="1400" b="0" i="0">
                <a:solidFill>
                  <a:srgbClr val="E6EDF3"/>
                </a:solidFill>
                <a:latin typeface="Consolas"/>
              </a:rPr>
              <a:t>&gt;())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9D6BE"/>
                </a:solidFill>
                <a:latin typeface="Consolas"/>
              </a:rPr>
              <a:t>ShipConsole</a:t>
            </a:r>
            <a:r>
              <a:rPr sz="1400" b="0" i="0">
                <a:solidFill>
                  <a:srgbClr val="E6EDF3"/>
                </a:solidFill>
                <a:latin typeface="Consolas"/>
              </a:rPr>
              <a:t>.</a:t>
            </a:r>
            <a:r>
              <a:rPr sz="1400" b="0" i="0">
                <a:solidFill>
                  <a:srgbClr val="79D6BE"/>
                </a:solidFill>
                <a:latin typeface="Consolas"/>
              </a:rPr>
              <a:t>ToolCall</a:t>
            </a:r>
            <a:r>
              <a:rPr sz="1400" b="0" i="0">
                <a:solidFill>
                  <a:srgbClr val="E6EDF3"/>
                </a:solidFill>
                <a:latin typeface="Consolas"/>
              </a:rPr>
              <a:t>(call.</a:t>
            </a:r>
            <a:r>
              <a:rPr sz="1400" b="0" i="0">
                <a:solidFill>
                  <a:srgbClr val="79D6BE"/>
                </a:solidFill>
                <a:latin typeface="Consolas"/>
              </a:rPr>
              <a:t>Name</a:t>
            </a:r>
            <a:r>
              <a:rPr sz="1400" b="0" i="0">
                <a:solidFill>
                  <a:srgbClr val="E6EDF3"/>
                </a:solidFill>
                <a:latin typeface="Consolas"/>
              </a:rPr>
              <a:t>, </a:t>
            </a:r>
            <a:r>
              <a:rPr sz="1400" b="0" i="0">
                <a:solidFill>
                  <a:srgbClr val="79D6BE"/>
                </a:solidFill>
                <a:latin typeface="Consolas"/>
              </a:rPr>
              <a:t>SensorTools</a:t>
            </a:r>
            <a:r>
              <a:rPr sz="1400" b="0" i="0">
                <a:solidFill>
                  <a:srgbClr val="E6EDF3"/>
                </a:solidFill>
                <a:latin typeface="Consolas"/>
              </a:rPr>
              <a:t>.</a:t>
            </a:r>
            <a:r>
              <a:rPr sz="1400" b="0" i="0">
                <a:solidFill>
                  <a:srgbClr val="79D6BE"/>
                </a:solidFill>
                <a:latin typeface="Consolas"/>
              </a:rPr>
              <a:t>ToolNames</a:t>
            </a:r>
            <a:r>
              <a:rPr sz="1400" b="0" i="0">
                <a:solidFill>
                  <a:srgbClr val="E6EDF3"/>
                </a:solidFill>
                <a:latin typeface="Consolas"/>
              </a:rPr>
              <a:t>.</a:t>
            </a:r>
            <a:r>
              <a:rPr sz="1400" b="0" i="0">
                <a:solidFill>
                  <a:srgbClr val="79D6BE"/>
                </a:solidFill>
                <a:latin typeface="Consolas"/>
              </a:rPr>
              <a:t>Contains</a:t>
            </a:r>
            <a:r>
              <a:rPr sz="1400" b="0" i="0">
                <a:solidFill>
                  <a:srgbClr val="E6EDF3"/>
                </a:solidFill>
                <a:latin typeface="Consolas"/>
              </a:rPr>
              <a:t>(call.</a:t>
            </a:r>
            <a:r>
              <a:rPr sz="1400" b="0" i="0">
                <a:solidFill>
                  <a:srgbClr val="79D6BE"/>
                </a:solidFill>
                <a:latin typeface="Consolas"/>
              </a:rPr>
              <a:t>Name</a:t>
            </a:r>
            <a:r>
              <a:rPr sz="1400" b="0" i="0">
                <a:solidFill>
                  <a:srgbClr val="E6EDF3"/>
                </a:solidFill>
                <a:latin typeface="Consolas"/>
              </a:rPr>
              <a: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FB6FF"/>
                </a:solidFill>
                <a:latin typeface="Consolas"/>
              </a:rPr>
              <a:t>if</a:t>
            </a:r>
            <a:r>
              <a:rPr sz="1400" b="0" i="0">
                <a:solidFill>
                  <a:srgbClr val="E6EDF3"/>
                </a:solidFill>
                <a:latin typeface="Consolas"/>
              </a:rPr>
              <a:t> (update.</a:t>
            </a:r>
            <a:r>
              <a:rPr sz="1400" b="0" i="0">
                <a:solidFill>
                  <a:srgbClr val="79D6BE"/>
                </a:solidFill>
                <a:latin typeface="Consolas"/>
              </a:rPr>
              <a:t>Text</a:t>
            </a:r>
            <a:r>
              <a:rPr sz="1400" b="0" i="0">
                <a:solidFill>
                  <a:srgbClr val="E6EDF3"/>
                </a:solidFill>
                <a:latin typeface="Consolas"/>
              </a:rPr>
              <a:t> </a:t>
            </a:r>
            <a:r>
              <a:rPr sz="1400" b="0" i="0">
                <a:solidFill>
                  <a:srgbClr val="7FB6FF"/>
                </a:solidFill>
                <a:latin typeface="Consolas"/>
              </a:rPr>
              <a:t>is</a:t>
            </a:r>
            <a:r>
              <a:rPr sz="1400" b="0" i="0">
                <a:solidFill>
                  <a:srgbClr val="E6EDF3"/>
                </a:solidFill>
                <a:latin typeface="Consolas"/>
              </a:rPr>
              <a:t> { </a:t>
            </a:r>
            <a:r>
              <a:rPr sz="1400" b="0" i="0">
                <a:solidFill>
                  <a:srgbClr val="79D6BE"/>
                </a:solidFill>
                <a:latin typeface="Consolas"/>
              </a:rPr>
              <a:t>Length</a:t>
            </a:r>
            <a:r>
              <a:rPr sz="1400" b="0" i="0">
                <a:solidFill>
                  <a:srgbClr val="E6EDF3"/>
                </a:solidFill>
                <a:latin typeface="Consolas"/>
              </a:rPr>
              <a:t>: &gt; </a:t>
            </a:r>
            <a:r>
              <a:rPr sz="1400" b="0" i="0">
                <a:solidFill>
                  <a:srgbClr val="E8A87C"/>
                </a:solidFill>
                <a:latin typeface="Consolas"/>
              </a:rPr>
              <a:t>0</a:t>
            </a:r>
            <a:r>
              <a:rPr sz="1400" b="0" i="0">
                <a:solidFill>
                  <a:srgbClr val="E6EDF3"/>
                </a:solidFill>
                <a:latin typeface="Consolas"/>
              </a:rPr>
              <a:t> } text)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9D6BE"/>
                </a:solidFill>
                <a:latin typeface="Consolas"/>
              </a:rPr>
              <a:t>ShipConsole</a:t>
            </a:r>
            <a:r>
              <a:rPr sz="1400" b="0" i="0">
                <a:solidFill>
                  <a:srgbClr val="E6EDF3"/>
                </a:solidFill>
                <a:latin typeface="Consolas"/>
              </a:rPr>
              <a:t>.</a:t>
            </a:r>
            <a:r>
              <a:rPr sz="1400" b="0" i="0">
                <a:solidFill>
                  <a:srgbClr val="79D6BE"/>
                </a:solidFill>
                <a:latin typeface="Consolas"/>
              </a:rPr>
              <a:t>Aurora</a:t>
            </a:r>
            <a:r>
              <a:rPr sz="1400" b="0" i="0">
                <a:solidFill>
                  <a:srgbClr val="E6EDF3"/>
                </a:solidFill>
                <a:latin typeface="Consolas"/>
              </a:rPr>
              <a:t>(text);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a:t>
            </a:r>
          </a:p>
        </p:txBody>
      </p:sp>
      <p:sp>
        <p:nvSpPr>
          <p:cNvPr id="7" name="TextBox 6"/>
          <p:cNvSpPr txBox="1"/>
          <p:nvPr/>
        </p:nvSpPr>
        <p:spPr>
          <a:xfrm>
            <a:off x="777240" y="5269992"/>
            <a:ext cx="10637215" cy="822960"/>
          </a:xfrm>
          <a:prstGeom prst="rect">
            <a:avLst/>
          </a:prstGeom>
          <a:noFill/>
        </p:spPr>
        <p:txBody>
          <a:bodyPr wrap="square" anchor="t" lIns="0" rIns="0" tIns="0" bIns="0">
            <a:spAutoFit/>
          </a:bodyPr>
          <a:lstStyle/>
          <a:p>
            <a:pPr algn="l">
              <a:lnSpc>
                <a:spcPct val="125000"/>
              </a:lnSpc>
              <a:spcAft>
                <a:spcPts val="600"/>
              </a:spcAft>
            </a:pPr>
            <a:r>
              <a:rPr sz="1700" b="0" i="0">
                <a:solidFill>
                  <a:srgbClr val="8B949E"/>
                </a:solidFill>
                <a:latin typeface="Segoe UI"/>
              </a:rPr>
              <a:t>That </a:t>
            </a:r>
            <a:r>
              <a:rPr sz="1700" b="0" i="0">
                <a:solidFill>
                  <a:srgbClr val="F0B429"/>
                </a:solidFill>
                <a:latin typeface="Consolas"/>
              </a:rPr>
              <a:t>ToolNames.Contains</a:t>
            </a:r>
            <a:r>
              <a:rPr sz="1700" b="0" i="0">
                <a:solidFill>
                  <a:srgbClr val="8B949E"/>
                </a:solidFill>
                <a:latin typeface="Segoe UI"/>
              </a:rPr>
              <a:t> is not decoration. </a:t>
            </a:r>
            <a:r>
              <a:rPr sz="1700" b="1" i="0">
                <a:solidFill>
                  <a:srgbClr val="E6EDF3"/>
                </a:solidFill>
                <a:latin typeface="Segoe UI"/>
              </a:rPr>
              <a:t>The harness's own tools arrive on this same channel</a:t>
            </a:r>
            <a:r>
              <a:rPr sz="1700" b="0" i="0">
                <a:solidFill>
                  <a:srgbClr val="8B949E"/>
                </a:solidFill>
                <a:latin typeface="Segoe UI"/>
              </a:rPr>
              <a:t> — </a:t>
            </a:r>
            <a:r>
              <a:rPr sz="1700" b="0" i="0">
                <a:solidFill>
                  <a:srgbClr val="8B949E"/>
                </a:solidFill>
                <a:latin typeface="Consolas"/>
              </a:rPr>
              <a:t>todos_add</a:t>
            </a:r>
            <a:r>
              <a:rPr sz="1700" b="0" i="0">
                <a:solidFill>
                  <a:srgbClr val="8B949E"/>
                </a:solidFill>
                <a:latin typeface="Segoe UI"/>
              </a:rPr>
              <a:t> and </a:t>
            </a:r>
            <a:r>
              <a:rPr sz="1700" b="0" i="0">
                <a:solidFill>
                  <a:srgbClr val="8B949E"/>
                </a:solidFill>
                <a:latin typeface="Consolas"/>
              </a:rPr>
              <a:t>ScanSector</a:t>
            </a:r>
            <a:r>
              <a:rPr sz="1700" b="0" i="0">
                <a:solidFill>
                  <a:srgbClr val="8B949E"/>
                </a:solidFill>
                <a:latin typeface="Segoe UI"/>
              </a:rPr>
              <a:t> look identical here, and only one of them is the ship doing something.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src/ShipAI.Agent/ShipAgentFactory.cs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composition root</a:t>
            </a:r>
          </a:p>
        </p:txBody>
      </p:sp>
      <p:sp>
        <p:nvSpPr>
          <p:cNvPr id="4" name="Rectangle 3"/>
          <p:cNvSpPr/>
          <p:nvPr/>
        </p:nvSpPr>
        <p:spPr>
          <a:xfrm>
            <a:off x="777240" y="1783080"/>
            <a:ext cx="10637215" cy="416356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416356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797808"/>
          </a:xfrm>
          <a:prstGeom prst="rect">
            <a:avLst/>
          </a:prstGeom>
          <a:noFill/>
        </p:spPr>
        <p:txBody>
          <a:bodyPr wrap="square" anchor="t" lIns="0" rIns="0" tIns="0" bIns="0">
            <a:spAutoFit/>
          </a:bodyPr>
          <a:lstStyle/>
          <a:p>
            <a:pPr algn="l">
              <a:lnSpc>
                <a:spcPct val="100000"/>
              </a:lnSpc>
              <a:spcAft>
                <a:spcPts val="0"/>
              </a:spcAft>
            </a:pPr>
            <a:r>
              <a:rPr sz="1200" b="0" i="0">
                <a:solidFill>
                  <a:srgbClr val="7FB6FF"/>
                </a:solidFill>
                <a:latin typeface="Consolas"/>
              </a:rPr>
              <a:t>var</a:t>
            </a:r>
            <a:r>
              <a:rPr sz="1200" b="0" i="0">
                <a:solidFill>
                  <a:srgbClr val="E6EDF3"/>
                </a:solidFill>
                <a:latin typeface="Consolas"/>
              </a:rPr>
              <a:t> options = </a:t>
            </a:r>
            <a:r>
              <a:rPr sz="1200" b="0" i="0">
                <a:solidFill>
                  <a:srgbClr val="7FB6FF"/>
                </a:solidFill>
                <a:latin typeface="Consolas"/>
              </a:rPr>
              <a:t>new</a:t>
            </a:r>
            <a:r>
              <a:rPr sz="1200" b="0" i="0">
                <a:solidFill>
                  <a:srgbClr val="E6EDF3"/>
                </a:solidFill>
                <a:latin typeface="Consolas"/>
              </a:rPr>
              <a:t> </a:t>
            </a:r>
            <a:r>
              <a:rPr sz="1200" b="0" i="0">
                <a:solidFill>
                  <a:srgbClr val="79D6BE"/>
                </a:solidFill>
                <a:latin typeface="Consolas"/>
              </a:rPr>
              <a:t>HarnessAgentOptions</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Name</a:t>
            </a:r>
            <a:r>
              <a:rPr sz="1200" b="0" i="0">
                <a:solidFill>
                  <a:srgbClr val="E6EDF3"/>
                </a:solidFill>
                <a:latin typeface="Consolas"/>
              </a:rPr>
              <a:t>                = </a:t>
            </a:r>
            <a:r>
              <a:rPr sz="1200" b="0" i="0">
                <a:solidFill>
                  <a:srgbClr val="9FD98A"/>
                </a:solidFill>
                <a:latin typeface="Consolas"/>
              </a:rPr>
              <a:t>"AURORA"</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HarnessInstructions</a:t>
            </a:r>
            <a:r>
              <a:rPr sz="1200" b="0" i="0">
                <a:solidFill>
                  <a:srgbClr val="E6EDF3"/>
                </a:solidFill>
                <a:latin typeface="Consolas"/>
              </a:rPr>
              <a:t> = </a:t>
            </a:r>
            <a:r>
              <a:rPr sz="1200" b="0" i="0">
                <a:solidFill>
                  <a:srgbClr val="79D6BE"/>
                </a:solidFill>
                <a:latin typeface="Consolas"/>
              </a:rPr>
              <a:t>ShipHarnessInstructions</a:t>
            </a:r>
            <a:r>
              <a:rPr sz="1200" b="0" i="0">
                <a:solidFill>
                  <a:srgbClr val="E6EDF3"/>
                </a:solidFill>
                <a:latin typeface="Consolas"/>
              </a:rPr>
              <a:t>.</a:t>
            </a:r>
            <a:r>
              <a:rPr sz="1200" b="0" i="0">
                <a:solidFill>
                  <a:srgbClr val="79D6BE"/>
                </a:solidFill>
                <a:latin typeface="Consolas"/>
              </a:rPr>
              <a:t>Text</a:t>
            </a:r>
            <a:r>
              <a:rPr sz="1200" b="0" i="0">
                <a:solidFill>
                  <a:srgbClr val="E6EDF3"/>
                </a:solidFill>
                <a:latin typeface="Consolas"/>
              </a:rPr>
              <a:t>,   </a:t>
            </a:r>
            <a:r>
              <a:rPr sz="1200" b="0" i="0">
                <a:solidFill>
                  <a:srgbClr val="6A7889"/>
                </a:solidFill>
                <a:latin typeface="Consolas"/>
              </a:rPr>
              <a:t>// how AURORA operates</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ChatOptions</a:t>
            </a:r>
            <a:r>
              <a:rPr sz="1200" b="0" i="0">
                <a:solidFill>
                  <a:srgbClr val="E6EDF3"/>
                </a:solidFill>
                <a:latin typeface="Consolas"/>
              </a:rPr>
              <a:t> = </a:t>
            </a:r>
            <a:r>
              <a:rPr sz="1200" b="0" i="0">
                <a:solidFill>
                  <a:srgbClr val="7FB6FF"/>
                </a:solidFill>
                <a:latin typeface="Consolas"/>
              </a:rPr>
              <a:t>new</a:t>
            </a:r>
            <a:r>
              <a:rPr sz="1200" b="0" i="0">
                <a:solidFill>
                  <a:srgbClr val="E6EDF3"/>
                </a:solidFill>
                <a:latin typeface="Consolas"/>
              </a:rPr>
              <a:t> </a:t>
            </a:r>
            <a:r>
              <a:rPr sz="1200" b="0" i="0">
                <a:solidFill>
                  <a:srgbClr val="79D6BE"/>
                </a:solidFill>
                <a:latin typeface="Consolas"/>
              </a:rPr>
              <a:t>ChatOptions</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Instructions</a:t>
            </a:r>
            <a:r>
              <a:rPr sz="1200" b="0" i="0">
                <a:solidFill>
                  <a:srgbClr val="E6EDF3"/>
                </a:solidFill>
                <a:latin typeface="Consolas"/>
              </a:rPr>
              <a:t> = simulation.</a:t>
            </a:r>
            <a:r>
              <a:rPr sz="1200" b="0" i="0">
                <a:solidFill>
                  <a:srgbClr val="79D6BE"/>
                </a:solidFill>
                <a:latin typeface="Consolas"/>
              </a:rPr>
              <a:t>Briefing</a:t>
            </a:r>
            <a:r>
              <a:rPr sz="1200" b="0" i="0">
                <a:solidFill>
                  <a:srgbClr val="E6EDF3"/>
                </a:solidFill>
                <a:latin typeface="Consolas"/>
              </a:rPr>
              <a:t>,               </a:t>
            </a:r>
            <a:r>
              <a:rPr sz="1200" b="0" i="0">
                <a:solidFill>
                  <a:srgbClr val="6A7889"/>
                </a:solidFill>
                <a:latin typeface="Consolas"/>
              </a:rPr>
              <a:t>// what this voyage is for</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Tools</a:t>
            </a:r>
            <a:r>
              <a:rPr sz="1200" b="0" i="0">
                <a:solidFill>
                  <a:srgbClr val="E6EDF3"/>
                </a:solidFill>
                <a:latin typeface="Consolas"/>
              </a:rPr>
              <a:t>        = [.. sensors.</a:t>
            </a:r>
            <a:r>
              <a:rPr sz="1200" b="0" i="0">
                <a:solidFill>
                  <a:srgbClr val="79D6BE"/>
                </a:solidFill>
                <a:latin typeface="Consolas"/>
              </a:rPr>
              <a:t>AsAIFunctions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DisableWebSearch</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DisableFileMemory</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DisableAgentSkillsProvider</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MaxContextWindowTokens</a:t>
            </a:r>
            <a:r>
              <a:rPr sz="1200" b="0" i="0">
                <a:solidFill>
                  <a:srgbClr val="E6EDF3"/>
                </a:solidFill>
                <a:latin typeface="Consolas"/>
              </a:rPr>
              <a:t>     = </a:t>
            </a:r>
            <a:r>
              <a:rPr sz="1200" b="0" i="0">
                <a:solidFill>
                  <a:srgbClr val="E8A87C"/>
                </a:solidFill>
                <a:latin typeface="Consolas"/>
              </a:rPr>
              <a:t>128_000</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MaxOutputTokens</a:t>
            </a:r>
            <a:r>
              <a:rPr sz="1200" b="0" i="0">
                <a:solidFill>
                  <a:srgbClr val="E6EDF3"/>
                </a:solidFill>
                <a:latin typeface="Consolas"/>
              </a:rPr>
              <a:t>            = </a:t>
            </a:r>
            <a:r>
              <a:rPr sz="1200" b="0" i="0">
                <a:solidFill>
                  <a:srgbClr val="E8A87C"/>
                </a:solidFill>
                <a:latin typeface="Consolas"/>
              </a:rPr>
              <a:t>16_384</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7FB6FF"/>
                </a:solidFill>
                <a:latin typeface="Consolas"/>
              </a:rPr>
              <a:t>return</a:t>
            </a:r>
            <a:r>
              <a:rPr sz="1200" b="0" i="0">
                <a:solidFill>
                  <a:srgbClr val="E6EDF3"/>
                </a:solidFill>
                <a:latin typeface="Consolas"/>
              </a:rPr>
              <a:t> chatClient.</a:t>
            </a:r>
            <a:r>
              <a:rPr sz="1200" b="0" i="0">
                <a:solidFill>
                  <a:srgbClr val="79D6BE"/>
                </a:solidFill>
                <a:latin typeface="Consolas"/>
              </a:rPr>
              <a:t>AsHarnessAgent</a:t>
            </a:r>
            <a:r>
              <a:rPr sz="1200" b="0" i="0">
                <a:solidFill>
                  <a:srgbClr val="E6EDF3"/>
                </a:solidFill>
                <a:latin typeface="Consolas"/>
              </a:rPr>
              <a:t>(options, loggerFactory);</a:t>
            </a:r>
          </a:p>
        </p:txBody>
      </p:sp>
      <p:sp>
        <p:nvSpPr>
          <p:cNvPr id="7" name="TextBox 6"/>
          <p:cNvSpPr txBox="1"/>
          <p:nvPr/>
        </p:nvSpPr>
        <p:spPr>
          <a:xfrm>
            <a:off x="777240" y="6111240"/>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8B949E"/>
                </a:solidFill>
                <a:latin typeface="Segoe UI"/>
              </a:rPr>
              <a:t>One file in the repo knows the type </a:t>
            </a:r>
            <a:r>
              <a:rPr sz="1500" b="0" i="0">
                <a:solidFill>
                  <a:srgbClr val="F0B429"/>
                </a:solidFill>
                <a:latin typeface="Consolas"/>
              </a:rPr>
              <a:t>HarnessAgentOptions</a:t>
            </a:r>
            <a:r>
              <a:rPr sz="1500" b="0" i="0">
                <a:solidFill>
                  <a:srgbClr val="8B949E"/>
                </a:solidFill>
                <a:latin typeface="Segoe UI"/>
              </a:rPr>
              <a:t>. Two instruction slots, one tool list, five settings — </a:t>
            </a:r>
            <a:r>
              <a:rPr sz="1500" b="1" i="0">
                <a:solidFill>
                  <a:srgbClr val="F0B429"/>
                </a:solidFill>
                <a:latin typeface="Segoe UI"/>
              </a:rPr>
              <a:t>and every one of those five is here because of something that went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src/ShipAI.Agent/Tools/SensorTools.cs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A tool is a method with a good description</a:t>
            </a:r>
          </a:p>
        </p:txBody>
      </p:sp>
      <p:sp>
        <p:nvSpPr>
          <p:cNvPr id="4" name="Rectangle 3"/>
          <p:cNvSpPr/>
          <p:nvPr/>
        </p:nvSpPr>
        <p:spPr>
          <a:xfrm>
            <a:off x="777240" y="1783080"/>
            <a:ext cx="10637215" cy="3785616"/>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3785616"/>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419856"/>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a:t>
            </a:r>
            <a:r>
              <a:rPr sz="1200" b="0" i="0">
                <a:solidFill>
                  <a:srgbClr val="79D6BE"/>
                </a:solidFill>
                <a:latin typeface="Consolas"/>
              </a:rPr>
              <a:t>Description</a:t>
            </a:r>
            <a:r>
              <a:rPr sz="1200" b="0" i="0">
                <a:solidFill>
                  <a:srgbClr val="E6EDF3"/>
                </a:solidFill>
                <a:latin typeface="Consolas"/>
              </a:rPr>
              <a:t>(</a:t>
            </a:r>
            <a:r>
              <a:rPr sz="1200" b="0" i="0">
                <a:solidFill>
                  <a:srgbClr val="9FD98A"/>
                </a:solidFill>
                <a:latin typeface="Consolas"/>
              </a:rPr>
              <a:t>"""</a:t>
            </a:r>
          </a:p>
          <a:p>
            <a:pPr algn="l">
              <a:lnSpc>
                <a:spcPct val="100000"/>
              </a:lnSpc>
              <a:spcAft>
                <a:spcPts val="0"/>
              </a:spcAft>
            </a:pPr>
            <a:r>
              <a:rPr sz="1200" b="0" i="0">
                <a:solidFill>
                  <a:srgbClr val="9FD98A"/>
                </a:solidFill>
                <a:latin typeface="Consolas"/>
              </a:rPr>
              <a:t>    Sweeps the current sector and returns every sensor contact: contact ID,</a:t>
            </a:r>
          </a:p>
          <a:p>
            <a:pPr algn="l">
              <a:lnSpc>
                <a:spcPct val="100000"/>
              </a:lnSpc>
              <a:spcAft>
                <a:spcPts val="0"/>
              </a:spcAft>
            </a:pPr>
            <a:r>
              <a:rPr sz="1200" b="0" i="0">
                <a:solidFill>
                  <a:srgbClr val="9FD98A"/>
                </a:solidFill>
                <a:latin typeface="Consolas"/>
              </a:rPr>
              <a:t>    designation, bearing in degrees, range in AU, and drive signature. Use the</a:t>
            </a:r>
          </a:p>
          <a:p>
            <a:pPr algn="l">
              <a:lnSpc>
                <a:spcPct val="100000"/>
              </a:lnSpc>
              <a:spcAft>
                <a:spcPts val="0"/>
              </a:spcAft>
            </a:pPr>
            <a:r>
              <a:rPr sz="1200" b="0" i="0">
                <a:solidFill>
                  <a:srgbClr val="9FD98A"/>
                </a:solidFill>
                <a:latin typeface="Consolas"/>
              </a:rPr>
              <a:t>    returned contact IDs with AnalyseContact. The result is a snapshot stamped</a:t>
            </a:r>
          </a:p>
          <a:p>
            <a:pPr algn="l">
              <a:lnSpc>
                <a:spcPct val="100000"/>
              </a:lnSpc>
              <a:spcAft>
                <a:spcPts val="0"/>
              </a:spcAft>
            </a:pPr>
            <a:r>
              <a:rPr sz="1200" b="0" i="0">
                <a:solidFill>
                  <a:srgbClr val="9FD98A"/>
                </a:solidFill>
                <a:latin typeface="Consolas"/>
              </a:rPr>
              <a:t>    with the turn it was taken on. Contacts arrive and depart between turns, so</a:t>
            </a:r>
          </a:p>
          <a:p>
            <a:pPr algn="l">
              <a:lnSpc>
                <a:spcPct val="100000"/>
              </a:lnSpc>
              <a:spcAft>
                <a:spcPts val="0"/>
              </a:spcAft>
            </a:pPr>
            <a:r>
              <a:rPr sz="1200" b="0" i="0">
                <a:solidFill>
                  <a:srgbClr val="9FD98A"/>
                </a:solidFill>
                <a:latin typeface="Consolas"/>
              </a:rPr>
              <a:t>    a sweep from an earlier turn is not evidence about this one.</a:t>
            </a:r>
          </a:p>
          <a:p>
            <a:pPr algn="l">
              <a:lnSpc>
                <a:spcPct val="100000"/>
              </a:lnSpc>
              <a:spcAft>
                <a:spcPts val="0"/>
              </a:spcAft>
            </a:pPr>
            <a:r>
              <a:rPr sz="1200" b="0" i="0">
                <a:solidFill>
                  <a:srgbClr val="9FD98A"/>
                </a:solidFill>
                <a:latin typeface="Consolas"/>
              </a:rPr>
              <a:t>    """</a:t>
            </a:r>
            <a:r>
              <a:rPr sz="1200" b="0" i="0">
                <a:solidFill>
                  <a:srgbClr val="E6EDF3"/>
                </a:solidFill>
                <a:latin typeface="Consolas"/>
              </a:rPr>
              <a:t>)]</a:t>
            </a:r>
          </a:p>
          <a:p>
            <a:pPr algn="l">
              <a:lnSpc>
                <a:spcPct val="100000"/>
              </a:lnSpc>
              <a:spcAft>
                <a:spcPts val="0"/>
              </a:spcAft>
            </a:pP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ScanSector</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var</a:t>
            </a:r>
            <a:r>
              <a:rPr sz="1200" b="0" i="0">
                <a:solidFill>
                  <a:srgbClr val="E6EDF3"/>
                </a:solidFill>
                <a:latin typeface="Consolas"/>
              </a:rPr>
              <a:t> contacts = simulation.</a:t>
            </a:r>
            <a:r>
              <a:rPr sz="1200" b="0" i="0">
                <a:solidFill>
                  <a:srgbClr val="79D6BE"/>
                </a:solidFill>
                <a:latin typeface="Consolas"/>
              </a:rPr>
              <a:t>State</a:t>
            </a:r>
            <a:r>
              <a:rPr sz="1200" b="0" i="0">
                <a:solidFill>
                  <a:srgbClr val="E6EDF3"/>
                </a:solidFill>
                <a:latin typeface="Consolas"/>
              </a:rPr>
              <a:t>.</a:t>
            </a:r>
            <a:r>
              <a:rPr sz="1200" b="0" i="0">
                <a:solidFill>
                  <a:srgbClr val="79D6BE"/>
                </a:solidFill>
                <a:latin typeface="Consolas"/>
              </a:rPr>
              <a:t>Contacts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if</a:t>
            </a:r>
            <a:r>
              <a:rPr sz="1200" b="0" i="0">
                <a:solidFill>
                  <a:srgbClr val="E6EDF3"/>
                </a:solidFill>
                <a:latin typeface="Consolas"/>
              </a:rPr>
              <a:t> (contacts.</a:t>
            </a:r>
            <a:r>
              <a:rPr sz="1200" b="0" i="0">
                <a:solidFill>
                  <a:srgbClr val="79D6BE"/>
                </a:solidFill>
                <a:latin typeface="Consolas"/>
              </a:rPr>
              <a:t>Length</a:t>
            </a:r>
            <a:r>
              <a:rPr sz="1200" b="0" i="0">
                <a:solidFill>
                  <a:srgbClr val="E6EDF3"/>
                </a:solidFill>
                <a:latin typeface="Consolas"/>
              </a:rPr>
              <a:t> == </a:t>
            </a:r>
            <a:r>
              <a:rPr sz="1200" b="0" i="0">
                <a:solidFill>
                  <a:srgbClr val="E8A87C"/>
                </a:solidFill>
                <a:latin typeface="Consolas"/>
              </a:rPr>
              <a:t>0</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return</a:t>
            </a:r>
            <a:r>
              <a:rPr sz="1200" b="0" i="0">
                <a:solidFill>
                  <a:srgbClr val="E6EDF3"/>
                </a:solidFill>
                <a:latin typeface="Consolas"/>
              </a:rPr>
              <a:t> </a:t>
            </a:r>
            <a:r>
              <a:rPr sz="1200" b="0" i="0">
                <a:solidFill>
                  <a:srgbClr val="79D6BE"/>
                </a:solidFill>
                <a:latin typeface="Consolas"/>
              </a:rPr>
              <a:t>Stamped</a:t>
            </a:r>
            <a:r>
              <a:rPr sz="1200" b="0" i="0">
                <a:solidFill>
                  <a:srgbClr val="E6EDF3"/>
                </a:solidFill>
                <a:latin typeface="Consolas"/>
              </a:rPr>
              <a:t>(</a:t>
            </a:r>
            <a:r>
              <a:rPr sz="1200" b="0" i="0">
                <a:solidFill>
                  <a:srgbClr val="9FD98A"/>
                </a:solidFill>
                <a:latin typeface="Consolas"/>
              </a:rPr>
              <a:t>"Sector sweep complete. No contacts. Background only."</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6A7889"/>
                </a:solidFill>
                <a:latin typeface="Consolas"/>
              </a:rPr>
              <a:t>// …one line per contact: id, designation, bearing, range, drive signature</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7FB6FF"/>
                </a:solidFill>
                <a:latin typeface="Consolas"/>
              </a:rPr>
              <a:t>private</a:t>
            </a:r>
            <a:r>
              <a:rPr sz="1200" b="0" i="0">
                <a:solidFill>
                  <a:srgbClr val="E6EDF3"/>
                </a:solidFill>
                <a:latin typeface="Consolas"/>
              </a:rPr>
              <a:t> </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Stamped</a:t>
            </a:r>
            <a:r>
              <a:rPr sz="1200" b="0" i="0">
                <a:solidFill>
                  <a:srgbClr val="E6EDF3"/>
                </a:solidFill>
                <a:latin typeface="Consolas"/>
              </a:rPr>
              <a:t>(</a:t>
            </a:r>
            <a:r>
              <a:rPr sz="1200" b="0" i="0">
                <a:solidFill>
                  <a:srgbClr val="7FB6FF"/>
                </a:solidFill>
                <a:latin typeface="Consolas"/>
              </a:rPr>
              <a:t>string</a:t>
            </a:r>
            <a:r>
              <a:rPr sz="1200" b="0" i="0">
                <a:solidFill>
                  <a:srgbClr val="E6EDF3"/>
                </a:solidFill>
                <a:latin typeface="Consolas"/>
              </a:rPr>
              <a:t> reading) =&gt; </a:t>
            </a:r>
            <a:r>
              <a:rPr sz="1200" b="0" i="0">
                <a:solidFill>
                  <a:srgbClr val="9FD98A"/>
                </a:solidFill>
                <a:latin typeface="Consolas"/>
              </a:rPr>
              <a:t>$"[T{simulation.State.Turn:D3}] {reading}"</a:t>
            </a:r>
            <a:r>
              <a:rPr sz="1200" b="0" i="0">
                <a:solidFill>
                  <a:srgbClr val="E6EDF3"/>
                </a:solidFill>
                <a:latin typeface="Consolas"/>
              </a:rPr>
              <a:t>;</a:t>
            </a:r>
          </a:p>
        </p:txBody>
      </p:sp>
      <p:sp>
        <p:nvSpPr>
          <p:cNvPr id="7" name="TextBox 6"/>
          <p:cNvSpPr txBox="1"/>
          <p:nvPr/>
        </p:nvSpPr>
        <p:spPr>
          <a:xfrm>
            <a:off x="777240" y="5733288"/>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F0B429"/>
                </a:solidFill>
                <a:latin typeface="Consolas"/>
              </a:rPr>
              <a:t>Tools = [.. sensors.AsAIFunctions()]</a:t>
            </a:r>
            <a:r>
              <a:rPr sz="1500" b="0" i="0">
                <a:solidFill>
                  <a:srgbClr val="8B949E"/>
                </a:solidFill>
                <a:latin typeface="Segoe UI"/>
              </a:rPr>
              <a:t> — four </a:t>
            </a:r>
            <a:r>
              <a:rPr sz="1500" b="0" i="0">
                <a:solidFill>
                  <a:srgbClr val="8B949E"/>
                </a:solidFill>
                <a:latin typeface="Consolas"/>
              </a:rPr>
              <a:t>AIFunctionFactory.Create(…)</a:t>
            </a:r>
            <a:r>
              <a:rPr sz="1500" b="0" i="0">
                <a:solidFill>
                  <a:srgbClr val="8B949E"/>
                </a:solidFill>
                <a:latin typeface="Segoe UI"/>
              </a:rPr>
              <a:t> calls. </a:t>
            </a:r>
            <a:r>
              <a:rPr sz="1500" b="1" i="0">
                <a:solidFill>
                  <a:srgbClr val="E6EDF3"/>
                </a:solidFill>
                <a:latin typeface="Segoe UI"/>
              </a:rPr>
              <a:t>The description is the only documentation the model will ever read.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src/ShipAI.Simulation/ShipSimulation.cs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200" b="1" i="0">
                <a:solidFill>
                  <a:srgbClr val="E6EDF3"/>
                </a:solidFill>
                <a:latin typeface="Segoe UI"/>
              </a:rPr>
              <a:t>The world changes in exactly two places. One:</a:t>
            </a:r>
          </a:p>
        </p:txBody>
      </p:sp>
      <p:sp>
        <p:nvSpPr>
          <p:cNvPr id="4" name="Rectangle 3"/>
          <p:cNvSpPr/>
          <p:nvPr/>
        </p:nvSpPr>
        <p:spPr>
          <a:xfrm>
            <a:off x="777240" y="1828800"/>
            <a:ext cx="10637215" cy="406908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406908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703320"/>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public</a:t>
            </a:r>
            <a:r>
              <a:rPr sz="1300" b="0" i="0">
                <a:solidFill>
                  <a:srgbClr val="E6EDF3"/>
                </a:solidFill>
                <a:latin typeface="Consolas"/>
              </a:rPr>
              <a:t> </a:t>
            </a:r>
            <a:r>
              <a:rPr sz="1300" b="0" i="0">
                <a:solidFill>
                  <a:srgbClr val="79D6BE"/>
                </a:solidFill>
                <a:latin typeface="Consolas"/>
              </a:rPr>
              <a:t>CommandResult</a:t>
            </a:r>
            <a:r>
              <a:rPr sz="1300" b="0" i="0">
                <a:solidFill>
                  <a:srgbClr val="E6EDF3"/>
                </a:solidFill>
                <a:latin typeface="Consolas"/>
              </a:rPr>
              <a:t> </a:t>
            </a:r>
            <a:r>
              <a:rPr sz="1300" b="0" i="0">
                <a:solidFill>
                  <a:srgbClr val="79D6BE"/>
                </a:solidFill>
                <a:latin typeface="Consolas"/>
              </a:rPr>
              <a:t>Apply</a:t>
            </a:r>
            <a:r>
              <a:rPr sz="1300" b="0" i="0">
                <a:solidFill>
                  <a:srgbClr val="E6EDF3"/>
                </a:solidFill>
                <a:latin typeface="Consolas"/>
              </a:rPr>
              <a:t>(</a:t>
            </a:r>
            <a:r>
              <a:rPr sz="1300" b="0" i="0">
                <a:solidFill>
                  <a:srgbClr val="79D6BE"/>
                </a:solidFill>
                <a:latin typeface="Consolas"/>
              </a:rPr>
              <a:t>ShipCommand</a:t>
            </a:r>
            <a:r>
              <a:rPr sz="1300" b="0" i="0">
                <a:solidFill>
                  <a:srgbClr val="E6EDF3"/>
                </a:solidFill>
                <a:latin typeface="Consolas"/>
              </a:rPr>
              <a:t> command)</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result = command </a:t>
            </a:r>
            <a:r>
              <a:rPr sz="1300" b="0" i="0">
                <a:solidFill>
                  <a:srgbClr val="7FB6FF"/>
                </a:solidFill>
                <a:latin typeface="Consolas"/>
              </a:rPr>
              <a:t>switch</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RoutePower</a:t>
            </a:r>
            <a:r>
              <a:rPr sz="1300" b="0" i="0">
                <a:solidFill>
                  <a:srgbClr val="E6EDF3"/>
                </a:solidFill>
                <a:latin typeface="Consolas"/>
              </a:rPr>
              <a:t>     c =&gt; </a:t>
            </a:r>
            <a:r>
              <a:rPr sz="1300" b="0" i="0">
                <a:solidFill>
                  <a:srgbClr val="79D6BE"/>
                </a:solidFill>
                <a:latin typeface="Consolas"/>
              </a:rPr>
              <a:t>ApplyRoutePower</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SealBulkhead</a:t>
            </a:r>
            <a:r>
              <a:rPr sz="1300" b="0" i="0">
                <a:solidFill>
                  <a:srgbClr val="E6EDF3"/>
                </a:solidFill>
                <a:latin typeface="Consolas"/>
              </a:rPr>
              <a:t>   c =&gt; </a:t>
            </a:r>
            <a:r>
              <a:rPr sz="1300" b="0" i="0">
                <a:solidFill>
                  <a:srgbClr val="79D6BE"/>
                </a:solidFill>
                <a:latin typeface="Consolas"/>
              </a:rPr>
              <a:t>ApplySealBulkhead</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VentAtmosphere</a:t>
            </a:r>
            <a:r>
              <a:rPr sz="1300" b="0" i="0">
                <a:solidFill>
                  <a:srgbClr val="E6EDF3"/>
                </a:solidFill>
                <a:latin typeface="Consolas"/>
              </a:rPr>
              <a:t> c =&gt; </a:t>
            </a:r>
            <a:r>
              <a:rPr sz="1300" b="0" i="0">
                <a:solidFill>
                  <a:srgbClr val="79D6BE"/>
                </a:solidFill>
                <a:latin typeface="Consolas"/>
              </a:rPr>
              <a:t>ApplyVentAtmosphere</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PlotJump</a:t>
            </a:r>
            <a:r>
              <a:rPr sz="1300" b="0" i="0">
                <a:solidFill>
                  <a:srgbClr val="E6EDF3"/>
                </a:solidFill>
                <a:latin typeface="Consolas"/>
              </a:rPr>
              <a:t>       c =&gt; </a:t>
            </a:r>
            <a:r>
              <a:rPr sz="1300" b="0" i="0">
                <a:solidFill>
                  <a:srgbClr val="79D6BE"/>
                </a:solidFill>
                <a:latin typeface="Consolas"/>
              </a:rPr>
              <a:t>ApplyPlotJump</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SetAlert</a:t>
            </a:r>
            <a:r>
              <a:rPr sz="1300" b="0" i="0">
                <a:solidFill>
                  <a:srgbClr val="E6EDF3"/>
                </a:solidFill>
                <a:latin typeface="Consolas"/>
              </a:rPr>
              <a:t>       c =&gt; </a:t>
            </a:r>
            <a:r>
              <a:rPr sz="1300" b="0" i="0">
                <a:solidFill>
                  <a:srgbClr val="79D6BE"/>
                </a:solidFill>
                <a:latin typeface="Consolas"/>
              </a:rPr>
              <a:t>ApplySetAlert</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_ =&gt; </a:t>
            </a:r>
            <a:r>
              <a:rPr sz="1300" b="0" i="0">
                <a:solidFill>
                  <a:srgbClr val="79D6BE"/>
                </a:solidFill>
                <a:latin typeface="Consolas"/>
              </a:rPr>
              <a:t>CommandResult</a:t>
            </a:r>
            <a:r>
              <a:rPr sz="1300" b="0" i="0">
                <a:solidFill>
                  <a:srgbClr val="E6EDF3"/>
                </a:solidFill>
                <a:latin typeface="Consolas"/>
              </a:rPr>
              <a:t>.</a:t>
            </a:r>
            <a:r>
              <a:rPr sz="1300" b="0" i="0">
                <a:solidFill>
                  <a:srgbClr val="79D6BE"/>
                </a:solidFill>
                <a:latin typeface="Consolas"/>
              </a:rPr>
              <a:t>Refused</a:t>
            </a:r>
            <a:r>
              <a:rPr sz="1300" b="0" i="0">
                <a:solidFill>
                  <a:srgbClr val="E6EDF3"/>
                </a:solidFill>
                <a:latin typeface="Consolas"/>
              </a:rPr>
              <a:t>(</a:t>
            </a:r>
            <a:r>
              <a:rPr sz="1300" b="0" i="0">
                <a:solidFill>
                  <a:srgbClr val="9FD98A"/>
                </a:solidFill>
                <a:latin typeface="Consolas"/>
              </a:rPr>
              <a:t>$"Unrecognised command: {command}."</a:t>
            </a: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result.</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Aurora</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result.</a:t>
            </a:r>
            <a:r>
              <a:rPr sz="1300" b="0" i="0">
                <a:solidFill>
                  <a:srgbClr val="79D6BE"/>
                </a:solidFill>
                <a:latin typeface="Consolas"/>
              </a:rPr>
              <a:t>Success</a:t>
            </a:r>
            <a:r>
              <a:rPr sz="1300" b="0" i="0">
                <a:solidFill>
                  <a:srgbClr val="E6EDF3"/>
                </a:solidFill>
                <a:latin typeface="Consolas"/>
              </a:rPr>
              <a:t> ? result.</a:t>
            </a:r>
            <a:r>
              <a:rPr sz="1300" b="0" i="0">
                <a:solidFill>
                  <a:srgbClr val="79D6BE"/>
                </a:solidFill>
                <a:latin typeface="Consolas"/>
              </a:rPr>
              <a:t>Narrative</a:t>
            </a:r>
            <a:r>
              <a:rPr sz="1300" b="0" i="0">
                <a:solidFill>
                  <a:srgbClr val="E6EDF3"/>
                </a:solidFill>
                <a:latin typeface="Consolas"/>
              </a:rPr>
              <a:t> : </a:t>
            </a:r>
            <a:r>
              <a:rPr sz="1300" b="0" i="0">
                <a:solidFill>
                  <a:srgbClr val="9FD98A"/>
                </a:solidFill>
                <a:latin typeface="Consolas"/>
              </a:rPr>
              <a:t>$"REFUSED — {result.Narrative}"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return</a:t>
            </a:r>
            <a:r>
              <a:rPr sz="1300" b="0" i="0">
                <a:solidFill>
                  <a:srgbClr val="E6EDF3"/>
                </a:solidFill>
                <a:latin typeface="Consolas"/>
              </a:rPr>
              <a:t> result;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080760"/>
            <a:ext cx="10637215" cy="822960"/>
          </a:xfrm>
          <a:prstGeom prst="rect">
            <a:avLst/>
          </a:prstGeom>
          <a:noFill/>
        </p:spPr>
        <p:txBody>
          <a:bodyPr wrap="square" anchor="t" lIns="0" rIns="0" tIns="0" bIns="0">
            <a:spAutoFit/>
          </a:bodyPr>
          <a:lstStyle/>
          <a:p>
            <a:pPr algn="l">
              <a:lnSpc>
                <a:spcPct val="125000"/>
              </a:lnSpc>
              <a:spcAft>
                <a:spcPts val="600"/>
              </a:spcAft>
            </a:pPr>
            <a:r>
              <a:rPr sz="1600" b="1" i="0">
                <a:solidFill>
                  <a:srgbClr val="E6EDF3"/>
                </a:solidFill>
                <a:latin typeface="Segoe UI"/>
              </a:rPr>
              <a:t>Never throws for a rule violation.</a:t>
            </a:r>
            <a:r>
              <a:rPr sz="1600" b="0" i="0">
                <a:solidFill>
                  <a:srgbClr val="8B949E"/>
                </a:solidFill>
                <a:latin typeface="Segoe UI"/>
              </a:rPr>
              <a:t> A refusal is a value with a narrative, and the agent can re-plan from it. </a:t>
            </a:r>
            <a:r>
              <a:rPr sz="1600" b="0" i="0">
                <a:solidFill>
                  <a:srgbClr val="F0B429"/>
                </a:solidFill>
                <a:latin typeface="Segoe UI"/>
              </a:rPr>
              <a:t>Last act, I will show you what that buys.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src/ShipAI.Simulation/ShipSimulation.cs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Two: the clock</a:t>
            </a:r>
          </a:p>
        </p:txBody>
      </p:sp>
      <p:sp>
        <p:nvSpPr>
          <p:cNvPr id="4" name="Rectangle 3"/>
          <p:cNvSpPr/>
          <p:nvPr/>
        </p:nvSpPr>
        <p:spPr>
          <a:xfrm>
            <a:off x="777240" y="1828800"/>
            <a:ext cx="10637215" cy="406908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406908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703320"/>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public</a:t>
            </a:r>
            <a:r>
              <a:rPr sz="1300" b="0" i="0">
                <a:solidFill>
                  <a:srgbClr val="E6EDF3"/>
                </a:solidFill>
                <a:latin typeface="Consolas"/>
              </a:rPr>
              <a:t> </a:t>
            </a:r>
            <a:r>
              <a:rPr sz="1300" b="0" i="0">
                <a:solidFill>
                  <a:srgbClr val="79D6BE"/>
                </a:solidFill>
                <a:latin typeface="Consolas"/>
              </a:rPr>
              <a:t>ShipState</a:t>
            </a:r>
            <a:r>
              <a:rPr sz="1300" b="0" i="0">
                <a:solidFill>
                  <a:srgbClr val="E6EDF3"/>
                </a:solidFill>
                <a:latin typeface="Consolas"/>
              </a:rPr>
              <a:t> </a:t>
            </a:r>
            <a:r>
              <a:rPr sz="1300" b="0" i="0">
                <a:solidFill>
                  <a:srgbClr val="79D6BE"/>
                </a:solidFill>
                <a:latin typeface="Consolas"/>
              </a:rPr>
              <a:t>Tick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_clock.</a:t>
            </a:r>
            <a:r>
              <a:rPr sz="1300" b="0" i="0">
                <a:solidFill>
                  <a:srgbClr val="79D6BE"/>
                </a:solidFill>
                <a:latin typeface="Consolas"/>
              </a:rPr>
              <a:t>Advance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State</a:t>
            </a:r>
            <a:r>
              <a:rPr sz="1300" b="0" i="0">
                <a:solidFill>
                  <a:srgbClr val="E6EDF3"/>
                </a:solidFill>
                <a:latin typeface="Consolas"/>
              </a:rPr>
              <a:t> </a:t>
            </a:r>
            <a:r>
              <a:rPr sz="1300" b="0" i="0">
                <a:solidFill>
                  <a:srgbClr val="7FB6FF"/>
                </a:solidFill>
                <a:latin typeface="Consolas"/>
              </a:rPr>
              <a:t>with</a:t>
            </a:r>
            <a:r>
              <a:rPr sz="1300" b="0" i="0">
                <a:solidFill>
                  <a:srgbClr val="E6EDF3"/>
                </a:solidFill>
                <a:latin typeface="Consolas"/>
              </a:rPr>
              <a:t> { </a:t>
            </a:r>
            <a:r>
              <a:rPr sz="1300" b="0" i="0">
                <a:solidFill>
                  <a:srgbClr val="79D6BE"/>
                </a:solidFill>
                <a:latin typeface="Consolas"/>
              </a:rPr>
              <a:t>Turn</a:t>
            </a:r>
            <a:r>
              <a:rPr sz="1300" b="0" i="0">
                <a:solidFill>
                  <a:srgbClr val="E6EDF3"/>
                </a:solidFill>
                <a:latin typeface="Consolas"/>
              </a:rPr>
              <a:t> = _clock.</a:t>
            </a:r>
            <a:r>
              <a:rPr sz="1300" b="0" i="0">
                <a:solidFill>
                  <a:srgbClr val="79D6BE"/>
                </a:solidFill>
                <a:latin typeface="Consolas"/>
              </a:rPr>
              <a:t>CurrentTurn</a:t>
            </a: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foreach</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e </a:t>
            </a:r>
            <a:r>
              <a:rPr sz="1300" b="0" i="0">
                <a:solidFill>
                  <a:srgbClr val="7FB6FF"/>
                </a:solidFill>
                <a:latin typeface="Consolas"/>
              </a:rPr>
              <a:t>in</a:t>
            </a:r>
            <a:r>
              <a:rPr sz="1300" b="0" i="0">
                <a:solidFill>
                  <a:srgbClr val="E6EDF3"/>
                </a:solidFill>
                <a:latin typeface="Consolas"/>
              </a:rPr>
              <a:t> _scenario.</a:t>
            </a:r>
            <a:r>
              <a:rPr sz="1300" b="0" i="0">
                <a:solidFill>
                  <a:srgbClr val="79D6BE"/>
                </a:solidFill>
                <a:latin typeface="Consolas"/>
              </a:rPr>
              <a:t>Events</a:t>
            </a:r>
            <a:r>
              <a:rPr sz="1300" b="0" i="0">
                <a:solidFill>
                  <a:srgbClr val="E6EDF3"/>
                </a:solidFill>
                <a:latin typeface="Consolas"/>
              </a:rPr>
              <a:t>.</a:t>
            </a:r>
            <a:r>
              <a:rPr sz="1300" b="0" i="0">
                <a:solidFill>
                  <a:srgbClr val="79D6BE"/>
                </a:solidFill>
                <a:latin typeface="Consolas"/>
              </a:rPr>
              <a:t>Where</a:t>
            </a:r>
            <a:r>
              <a:rPr sz="1300" b="0" i="0">
                <a:solidFill>
                  <a:srgbClr val="E6EDF3"/>
                </a:solidFill>
                <a:latin typeface="Consolas"/>
              </a:rPr>
              <a:t>(e =&gt; e.</a:t>
            </a:r>
            <a:r>
              <a:rPr sz="1300" b="0" i="0">
                <a:solidFill>
                  <a:srgbClr val="79D6BE"/>
                </a:solidFill>
                <a:latin typeface="Consolas"/>
              </a:rPr>
              <a:t>Turn</a:t>
            </a:r>
            <a:r>
              <a:rPr sz="1300" b="0" i="0">
                <a:solidFill>
                  <a:srgbClr val="E6EDF3"/>
                </a:solidFill>
                <a:latin typeface="Consolas"/>
              </a:rPr>
              <a:t> == </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ApplyScenarioEvent</a:t>
            </a:r>
            <a:r>
              <a:rPr sz="1300" b="0" i="0">
                <a:solidFill>
                  <a:srgbClr val="E6EDF3"/>
                </a:solidFill>
                <a:latin typeface="Consolas"/>
              </a:rPr>
              <a:t>(e);</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Ship</a:t>
            </a:r>
            <a:r>
              <a:rPr sz="1300" b="0" i="0">
                <a:solidFill>
                  <a:srgbClr val="E6EDF3"/>
                </a:solidFill>
                <a:latin typeface="Consolas"/>
              </a:rPr>
              <a:t>, e.</a:t>
            </a:r>
            <a:r>
              <a:rPr sz="1300" b="0" i="0">
                <a:solidFill>
                  <a:srgbClr val="79D6BE"/>
                </a:solidFill>
                <a:latin typeface="Consolas"/>
              </a:rPr>
              <a:t>Narrative</a:t>
            </a:r>
            <a:r>
              <a:rPr sz="1300" b="0" i="0">
                <a:solidFill>
                  <a:srgbClr val="E6EDF3"/>
                </a:solidFill>
                <a:latin typeface="Consolas"/>
              </a:rPr>
              <a:t>, </a:t>
            </a:r>
            <a:r>
              <a:rPr sz="1300" b="0" i="0">
                <a:solidFill>
                  <a:srgbClr val="79D6BE"/>
                </a:solidFill>
                <a:latin typeface="Consolas"/>
              </a:rPr>
              <a:t>SeverityOf</a:t>
            </a:r>
            <a:r>
              <a:rPr sz="1300" b="0" i="0">
                <a:solidFill>
                  <a:srgbClr val="E6EDF3"/>
                </a:solidFill>
                <a:latin typeface="Consolas"/>
              </a:rPr>
              <a:t>(e.</a:t>
            </a:r>
            <a:r>
              <a:rPr sz="1300" b="0" i="0">
                <a:solidFill>
                  <a:srgbClr val="79D6BE"/>
                </a:solidFill>
                <a:latin typeface="Consolas"/>
              </a:rPr>
              <a:t>Kind</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ApplyAtmosphere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ApplyReactorHeat</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ApplyCasualties</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ApplyAlertEscalation</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return</a:t>
            </a: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080760"/>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Breaches bleed. Reactors bake. Crew suffocate. Alerts escalate on their own. </a:t>
            </a:r>
            <a:r>
              <a:rPr sz="1600" b="1" i="0">
                <a:solidFill>
                  <a:srgbClr val="F0B429"/>
                </a:solidFill>
                <a:latin typeface="Segoe UI"/>
              </a:rPr>
              <a:t>All of it happens to the agent, none of it is told to the agent.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src/ShipAI.Simulation/ShipState.cs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One immutable record is the whole ship</a:t>
            </a:r>
          </a:p>
        </p:txBody>
      </p:sp>
      <p:sp>
        <p:nvSpPr>
          <p:cNvPr id="4" name="Rectangle 3"/>
          <p:cNvSpPr/>
          <p:nvPr/>
        </p:nvSpPr>
        <p:spPr>
          <a:xfrm>
            <a:off x="777240" y="1828800"/>
            <a:ext cx="10637215" cy="3407664"/>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3407664"/>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041904"/>
          </a:xfrm>
          <a:prstGeom prst="rect">
            <a:avLst/>
          </a:prstGeom>
          <a:noFill/>
        </p:spPr>
        <p:txBody>
          <a:bodyPr wrap="square" anchor="t" lIns="0" rIns="0" tIns="0" bIns="0">
            <a:spAutoFit/>
          </a:bodyPr>
          <a:lstStyle/>
          <a:p>
            <a:pPr algn="l">
              <a:lnSpc>
                <a:spcPct val="100000"/>
              </a:lnSpc>
              <a:spcAft>
                <a:spcPts val="0"/>
              </a:spcAft>
            </a:pP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sealed</a:t>
            </a:r>
            <a:r>
              <a:rPr sz="1200" b="0" i="0">
                <a:solidFill>
                  <a:srgbClr val="E6EDF3"/>
                </a:solidFill>
                <a:latin typeface="Consolas"/>
              </a:rPr>
              <a:t> </a:t>
            </a:r>
            <a:r>
              <a:rPr sz="1200" b="0" i="0">
                <a:solidFill>
                  <a:srgbClr val="7FB6FF"/>
                </a:solidFill>
                <a:latin typeface="Consolas"/>
              </a:rPr>
              <a:t>record</a:t>
            </a:r>
            <a:r>
              <a:rPr sz="1200" b="0" i="0">
                <a:solidFill>
                  <a:srgbClr val="E6EDF3"/>
                </a:solidFill>
                <a:latin typeface="Consolas"/>
              </a:rPr>
              <a:t> </a:t>
            </a:r>
            <a:r>
              <a:rPr sz="1200" b="0" i="0">
                <a:solidFill>
                  <a:srgbClr val="79D6BE"/>
                </a:solidFill>
                <a:latin typeface="Consolas"/>
              </a:rPr>
              <a:t>ShipState</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          </a:t>
            </a:r>
            <a:r>
              <a:rPr sz="1200" b="0" i="0">
                <a:solidFill>
                  <a:srgbClr val="79D6BE"/>
                </a:solidFill>
                <a:latin typeface="Consolas"/>
              </a:rPr>
              <a:t>Hull</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ReactorState</a:t>
            </a:r>
            <a:r>
              <a:rPr sz="1200" b="0" i="0">
                <a:solidFill>
                  <a:srgbClr val="E6EDF3"/>
                </a:solidFill>
                <a:latin typeface="Consolas"/>
              </a:rPr>
              <a:t> </a:t>
            </a:r>
            <a:r>
              <a:rPr sz="1200" b="0" i="0">
                <a:solidFill>
                  <a:srgbClr val="79D6BE"/>
                </a:solidFill>
                <a:latin typeface="Consolas"/>
              </a:rPr>
              <a:t>Reactor</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Coordinates</a:t>
            </a:r>
            <a:r>
              <a:rPr sz="1200" b="0" i="0">
                <a:solidFill>
                  <a:srgbClr val="E6EDF3"/>
                </a:solidFill>
                <a:latin typeface="Consolas"/>
              </a:rPr>
              <a:t>  </a:t>
            </a:r>
            <a:r>
              <a:rPr sz="1200" b="0" i="0">
                <a:solidFill>
                  <a:srgbClr val="79D6BE"/>
                </a:solidFill>
                <a:latin typeface="Consolas"/>
              </a:rPr>
              <a:t>Position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AlertLevel</a:t>
            </a:r>
            <a:r>
              <a:rPr sz="1200" b="0" i="0">
                <a:solidFill>
                  <a:srgbClr val="E6EDF3"/>
                </a:solidFill>
                <a:latin typeface="Consolas"/>
              </a:rPr>
              <a:t>   </a:t>
            </a:r>
            <a:r>
              <a:rPr sz="1200" b="0" i="0">
                <a:solidFill>
                  <a:srgbClr val="79D6BE"/>
                </a:solidFill>
                <a:latin typeface="Consolas"/>
              </a:rPr>
              <a:t>Alert</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          </a:t>
            </a:r>
            <a:r>
              <a:rPr sz="1200" b="0" i="0">
                <a:solidFill>
                  <a:srgbClr val="79D6BE"/>
                </a:solidFill>
                <a:latin typeface="Consolas"/>
              </a:rPr>
              <a:t>Turn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ImmutableDictionary</a:t>
            </a:r>
            <a:r>
              <a:rPr sz="1200" b="0" i="0">
                <a:solidFill>
                  <a:srgbClr val="E6EDF3"/>
                </a:solidFill>
                <a:latin typeface="Consolas"/>
              </a:rPr>
              <a:t>&lt;</a:t>
            </a:r>
            <a:r>
              <a:rPr sz="1200" b="0" i="0">
                <a:solidFill>
                  <a:srgbClr val="79D6BE"/>
                </a:solidFill>
                <a:latin typeface="Consolas"/>
              </a:rPr>
              <a:t>ShipSystem</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&gt;     </a:t>
            </a:r>
            <a:r>
              <a:rPr sz="1200" b="0" i="0">
                <a:solidFill>
                  <a:srgbClr val="79D6BE"/>
                </a:solidFill>
                <a:latin typeface="Consolas"/>
              </a:rPr>
              <a:t>PowerAllocation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ImmutableDictionary</a:t>
            </a:r>
            <a:r>
              <a:rPr sz="1200" b="0" i="0">
                <a:solidFill>
                  <a:srgbClr val="E6EDF3"/>
                </a:solidFill>
                <a:latin typeface="Consolas"/>
              </a:rPr>
              <a:t>&lt;</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ShipSection</a:t>
            </a:r>
            <a:r>
              <a:rPr sz="1200" b="0" i="0">
                <a:solidFill>
                  <a:srgbClr val="E6EDF3"/>
                </a:solidFill>
                <a:latin typeface="Consolas"/>
              </a:rPr>
              <a:t>&gt; </a:t>
            </a:r>
            <a:r>
              <a:rPr sz="1200" b="0" i="0">
                <a:solidFill>
                  <a:srgbClr val="79D6BE"/>
                </a:solidFill>
                <a:latin typeface="Consolas"/>
              </a:rPr>
              <a:t>Sections</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ImmutableArray</a:t>
            </a:r>
            <a:r>
              <a:rPr sz="1200" b="0" i="0">
                <a:solidFill>
                  <a:srgbClr val="E6EDF3"/>
                </a:solidFill>
                <a:latin typeface="Consolas"/>
              </a:rPr>
              <a:t>&lt;</a:t>
            </a:r>
            <a:r>
              <a:rPr sz="1200" b="0" i="0">
                <a:solidFill>
                  <a:srgbClr val="79D6BE"/>
                </a:solidFill>
                <a:latin typeface="Consolas"/>
              </a:rPr>
              <a:t>CrewMember</a:t>
            </a:r>
            <a:r>
              <a:rPr sz="1200" b="0" i="0">
                <a:solidFill>
                  <a:srgbClr val="E6EDF3"/>
                </a:solidFill>
                <a:latin typeface="Consolas"/>
              </a:rPr>
              <a:t>&gt;               </a:t>
            </a:r>
            <a:r>
              <a:rPr sz="1200" b="0" i="0">
                <a:solidFill>
                  <a:srgbClr val="79D6BE"/>
                </a:solidFill>
                <a:latin typeface="Consolas"/>
              </a:rPr>
              <a:t>Crew</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ImmutableArray</a:t>
            </a:r>
            <a:r>
              <a:rPr sz="1200" b="0" i="0">
                <a:solidFill>
                  <a:srgbClr val="E6EDF3"/>
                </a:solidFill>
                <a:latin typeface="Consolas"/>
              </a:rPr>
              <a:t>&lt;</a:t>
            </a:r>
            <a:r>
              <a:rPr sz="1200" b="0" i="0">
                <a:solidFill>
                  <a:srgbClr val="79D6BE"/>
                </a:solidFill>
                <a:latin typeface="Consolas"/>
              </a:rPr>
              <a:t>Contact</a:t>
            </a:r>
            <a:r>
              <a:rPr sz="1200" b="0" i="0">
                <a:solidFill>
                  <a:srgbClr val="E6EDF3"/>
                </a:solidFill>
                <a:latin typeface="Consolas"/>
              </a:rPr>
              <a:t>&gt;                  </a:t>
            </a:r>
            <a:r>
              <a:rPr sz="1200" b="0" i="0">
                <a:solidFill>
                  <a:srgbClr val="79D6BE"/>
                </a:solidFill>
                <a:latin typeface="Consolas"/>
              </a:rPr>
              <a:t>Contacts</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9D6BE"/>
                </a:solidFill>
                <a:latin typeface="Consolas"/>
              </a:rPr>
              <a:t>IEnumerable</a:t>
            </a:r>
            <a:r>
              <a:rPr sz="1200" b="0" i="0">
                <a:solidFill>
                  <a:srgbClr val="E6EDF3"/>
                </a:solidFill>
                <a:latin typeface="Consolas"/>
              </a:rPr>
              <a:t>&lt;</a:t>
            </a:r>
            <a:r>
              <a:rPr sz="1200" b="0" i="0">
                <a:solidFill>
                  <a:srgbClr val="79D6BE"/>
                </a:solidFill>
                <a:latin typeface="Consolas"/>
              </a:rPr>
              <a:t>CrewMember</a:t>
            </a:r>
            <a:r>
              <a:rPr sz="1200" b="0" i="0">
                <a:solidFill>
                  <a:srgbClr val="E6EDF3"/>
                </a:solidFill>
                <a:latin typeface="Consolas"/>
              </a:rPr>
              <a:t>&gt; </a:t>
            </a:r>
            <a:r>
              <a:rPr sz="1200" b="0" i="0">
                <a:solidFill>
                  <a:srgbClr val="79D6BE"/>
                </a:solidFill>
                <a:latin typeface="Consolas"/>
              </a:rPr>
              <a:t>CrewIn</a:t>
            </a:r>
            <a:r>
              <a:rPr sz="1200" b="0" i="0">
                <a:solidFill>
                  <a:srgbClr val="E6EDF3"/>
                </a:solidFill>
                <a:latin typeface="Consolas"/>
              </a:rPr>
              <a:t>(</a:t>
            </a:r>
            <a:r>
              <a:rPr sz="1200" b="0" i="0">
                <a:solidFill>
                  <a:srgbClr val="7FB6FF"/>
                </a:solidFill>
                <a:latin typeface="Consolas"/>
              </a:rPr>
              <a:t>string</a:t>
            </a:r>
            <a:r>
              <a:rPr sz="1200" b="0" i="0">
                <a:solidFill>
                  <a:srgbClr val="E6EDF3"/>
                </a:solidFill>
                <a:latin typeface="Consolas"/>
              </a:rPr>
              <a:t> section) =&gt;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LivingCrew</a:t>
            </a:r>
            <a:r>
              <a:rPr sz="1200" b="0" i="0">
                <a:solidFill>
                  <a:srgbClr val="E6EDF3"/>
                </a:solidFill>
                <a:latin typeface="Consolas"/>
              </a:rPr>
              <a:t>.</a:t>
            </a:r>
            <a:r>
              <a:rPr sz="1200" b="0" i="0">
                <a:solidFill>
                  <a:srgbClr val="79D6BE"/>
                </a:solidFill>
                <a:latin typeface="Consolas"/>
              </a:rPr>
              <a:t>Where</a:t>
            </a:r>
            <a:r>
              <a:rPr sz="1200" b="0" i="0">
                <a:solidFill>
                  <a:srgbClr val="E6EDF3"/>
                </a:solidFill>
                <a:latin typeface="Consolas"/>
              </a:rPr>
              <a:t>(c =&gt; </a:t>
            </a:r>
            <a:r>
              <a:rPr sz="1200" b="0" i="0">
                <a:solidFill>
                  <a:srgbClr val="7FB6FF"/>
                </a:solidFill>
                <a:latin typeface="Consolas"/>
              </a:rPr>
              <a:t>string</a:t>
            </a:r>
            <a:r>
              <a:rPr sz="1200" b="0" i="0">
                <a:solidFill>
                  <a:srgbClr val="E6EDF3"/>
                </a:solidFill>
                <a:latin typeface="Consolas"/>
              </a:rPr>
              <a:t>.</a:t>
            </a:r>
            <a:r>
              <a:rPr sz="1200" b="0" i="0">
                <a:solidFill>
                  <a:srgbClr val="79D6BE"/>
                </a:solidFill>
                <a:latin typeface="Consolas"/>
              </a:rPr>
              <a:t>Equals</a:t>
            </a:r>
            <a:r>
              <a:rPr sz="1200" b="0" i="0">
                <a:solidFill>
                  <a:srgbClr val="E6EDF3"/>
                </a:solidFill>
                <a:latin typeface="Consolas"/>
              </a:rPr>
              <a:t>(c.</a:t>
            </a:r>
            <a:r>
              <a:rPr sz="1200" b="0" i="0">
                <a:solidFill>
                  <a:srgbClr val="79D6BE"/>
                </a:solidFill>
                <a:latin typeface="Consolas"/>
              </a:rPr>
              <a:t>Section</a:t>
            </a:r>
            <a:r>
              <a:rPr sz="1200" b="0" i="0">
                <a:solidFill>
                  <a:srgbClr val="E6EDF3"/>
                </a:solidFill>
                <a:latin typeface="Consolas"/>
              </a:rPr>
              <a:t>, section, </a:t>
            </a:r>
            <a:r>
              <a:rPr sz="1200" b="0" i="0">
                <a:solidFill>
                  <a:srgbClr val="79D6BE"/>
                </a:solidFill>
                <a:latin typeface="Consolas"/>
              </a:rPr>
              <a:t>OrdinalIgnoreCase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p:txBody>
      </p:sp>
      <p:sp>
        <p:nvSpPr>
          <p:cNvPr id="7" name="TextBox 6"/>
          <p:cNvSpPr txBox="1"/>
          <p:nvPr/>
        </p:nvSpPr>
        <p:spPr>
          <a:xfrm>
            <a:off x="777240" y="5465064"/>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F0B429"/>
                </a:solidFill>
                <a:latin typeface="Consolas"/>
              </a:rPr>
              <a:t>ShipSimulation</a:t>
            </a:r>
            <a:r>
              <a:rPr sz="1600" b="0" i="0">
                <a:solidFill>
                  <a:srgbClr val="8B949E"/>
                </a:solidFill>
                <a:latin typeface="Segoe UI"/>
              </a:rPr>
              <a:t> holds the only mutable reference and replaces it wholesale. Everything else — panel, tools, tests — works with snapshots.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src/ShipAI.Simulation/Scenarios/derelict-freighter.json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encounter is data, not code</a:t>
            </a:r>
          </a:p>
        </p:txBody>
      </p:sp>
      <p:sp>
        <p:nvSpPr>
          <p:cNvPr id="4" name="Rectangle 3"/>
          <p:cNvSpPr/>
          <p:nvPr/>
        </p:nvSpPr>
        <p:spPr>
          <a:xfrm>
            <a:off x="777240" y="1783080"/>
            <a:ext cx="10637215" cy="359664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359664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23088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"name"</a:t>
            </a:r>
            <a:r>
              <a:rPr sz="1200" b="0" i="0">
                <a:solidFill>
                  <a:srgbClr val="E6EDF3"/>
                </a:solidFill>
                <a:latin typeface="Consolas"/>
              </a:rPr>
              <a:t>: </a:t>
            </a:r>
            <a:r>
              <a:rPr sz="1200" b="0" i="0">
                <a:solidFill>
                  <a:srgbClr val="9FD98A"/>
                </a:solidFill>
                <a:latin typeface="Consolas"/>
              </a:rPr>
              <a:t>"Derelict Freighter"</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"briefing"</a:t>
            </a:r>
            <a:r>
              <a:rPr sz="1200" b="0" i="0">
                <a:solidFill>
                  <a:srgbClr val="E6EDF3"/>
                </a:solidFill>
                <a:latin typeface="Consolas"/>
              </a:rPr>
              <a:t>: </a:t>
            </a:r>
            <a:r>
              <a:rPr sz="1200" b="0" i="0">
                <a:solidFill>
                  <a:srgbClr val="9FD98A"/>
                </a:solidFill>
                <a:latin typeface="Consolas"/>
              </a:rPr>
              <a:t>"ISV Kestrel is nine hours from the Halveston rendezvous …"</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"events"</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2</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"ContactDetected"</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"Sensors resolve the beacon source: a bulk freighter, drifting."</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"contact"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"id"</a:t>
            </a:r>
            <a:r>
              <a:rPr sz="1200" b="0" i="0">
                <a:solidFill>
                  <a:srgbClr val="E6EDF3"/>
                </a:solidFill>
                <a:latin typeface="Consolas"/>
              </a:rPr>
              <a:t>: </a:t>
            </a:r>
            <a:r>
              <a:rPr sz="1200" b="0" i="0">
                <a:solidFill>
                  <a:srgbClr val="9FD98A"/>
                </a:solidFill>
                <a:latin typeface="Consolas"/>
              </a:rPr>
              <a:t>"C-1"</a:t>
            </a:r>
            <a:r>
              <a:rPr sz="1200" b="0" i="0">
                <a:solidFill>
                  <a:srgbClr val="E6EDF3"/>
                </a:solidFill>
                <a:latin typeface="Consolas"/>
              </a:rPr>
              <a:t>, </a:t>
            </a:r>
            <a:r>
              <a:rPr sz="1200" b="0" i="0">
                <a:solidFill>
                  <a:srgbClr val="F0B429"/>
                </a:solidFill>
                <a:latin typeface="Consolas"/>
              </a:rPr>
              <a:t>"designation"</a:t>
            </a:r>
            <a:r>
              <a:rPr sz="1200" b="0" i="0">
                <a:solidFill>
                  <a:srgbClr val="E6EDF3"/>
                </a:solidFill>
                <a:latin typeface="Consolas"/>
              </a:rPr>
              <a:t>: </a:t>
            </a:r>
            <a:r>
              <a:rPr sz="1200" b="0" i="0">
                <a:solidFill>
                  <a:srgbClr val="9FD98A"/>
                </a:solidFill>
                <a:latin typeface="Consolas"/>
              </a:rPr>
              <a:t>"MV Anselm"</a:t>
            </a:r>
            <a:r>
              <a:rPr sz="1200" b="0" i="0">
                <a:solidFill>
                  <a:srgbClr val="E6EDF3"/>
                </a:solidFill>
                <a:latin typeface="Consolas"/>
              </a:rPr>
              <a:t>, </a:t>
            </a:r>
            <a:r>
              <a:rPr sz="1200" b="0" i="0">
                <a:solidFill>
                  <a:srgbClr val="F0B429"/>
                </a:solidFill>
                <a:latin typeface="Consolas"/>
              </a:rPr>
              <a:t>"bearing"</a:t>
            </a:r>
            <a:r>
              <a:rPr sz="1200" b="0" i="0">
                <a:solidFill>
                  <a:srgbClr val="E6EDF3"/>
                </a:solidFill>
                <a:latin typeface="Consolas"/>
              </a:rPr>
              <a:t>: </a:t>
            </a:r>
            <a:r>
              <a:rPr sz="1200" b="0" i="0">
                <a:solidFill>
                  <a:srgbClr val="E8A87C"/>
                </a:solidFill>
                <a:latin typeface="Consolas"/>
              </a:rPr>
              <a:t>214</a:t>
            </a:r>
            <a:r>
              <a:rPr sz="1200" b="0" i="0">
                <a:solidFill>
                  <a:srgbClr val="E6EDF3"/>
                </a:solidFill>
                <a:latin typeface="Consolas"/>
              </a:rPr>
              <a:t>, </a:t>
            </a:r>
            <a:r>
              <a:rPr sz="1200" b="0" i="0">
                <a:solidFill>
                  <a:srgbClr val="F0B429"/>
                </a:solidFill>
                <a:latin typeface="Consolas"/>
              </a:rPr>
              <a:t>"range"</a:t>
            </a:r>
            <a:r>
              <a:rPr sz="1200" b="0" i="0">
                <a:solidFill>
                  <a:srgbClr val="E6EDF3"/>
                </a:solidFill>
                <a:latin typeface="Consolas"/>
              </a:rPr>
              <a:t>: </a:t>
            </a:r>
            <a:r>
              <a:rPr sz="1200" b="0" i="0">
                <a:solidFill>
                  <a:srgbClr val="E8A87C"/>
                </a:solidFill>
                <a:latin typeface="Consolas"/>
              </a:rPr>
              <a:t>8.4</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"driveSignature"</a:t>
            </a:r>
            <a:r>
              <a:rPr sz="1200" b="0" i="0">
                <a:solidFill>
                  <a:srgbClr val="E6EDF3"/>
                </a:solidFill>
                <a:latin typeface="Consolas"/>
              </a:rPr>
              <a:t>: </a:t>
            </a:r>
            <a:r>
              <a:rPr sz="1200" b="0" i="0">
                <a:solidFill>
                  <a:srgbClr val="9FD98A"/>
                </a:solidFill>
                <a:latin typeface="Consolas"/>
              </a:rPr>
              <a:t>"Cold. Fusion plant offline for at least six hours."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"analysis"</a:t>
            </a:r>
            <a:r>
              <a:rPr sz="1200" b="0" i="0">
                <a:solidFill>
                  <a:srgbClr val="E6EDF3"/>
                </a:solidFill>
                <a:latin typeface="Consolas"/>
              </a:rPr>
              <a:t>: </a:t>
            </a:r>
            <a:r>
              <a:rPr sz="1200" b="0" i="0">
                <a:solidFill>
                  <a:srgbClr val="9FD98A"/>
                </a:solidFill>
                <a:latin typeface="Consolas"/>
              </a:rPr>
              <a:t>"Cargo bay doors standing open, safety interlocks manually</a:t>
            </a:r>
          </a:p>
          <a:p>
            <a:pPr algn="l">
              <a:lnSpc>
                <a:spcPct val="100000"/>
              </a:lnSpc>
              <a:spcAft>
                <a:spcPts val="0"/>
              </a:spcAft>
            </a:pPr>
            <a:r>
              <a:rPr sz="1200" b="0" i="0">
                <a:solidFill>
                  <a:srgbClr val="9FD98A"/>
                </a:solidFill>
                <a:latin typeface="Consolas"/>
              </a:rPr>
              <a:t>                     overridden from inside. Escape pods all present in their</a:t>
            </a:r>
          </a:p>
          <a:p>
            <a:pPr algn="l">
              <a:lnSpc>
                <a:spcPct val="100000"/>
              </a:lnSpc>
              <a:spcAft>
                <a:spcPts val="0"/>
              </a:spcAft>
            </a:pPr>
            <a:r>
              <a:rPr sz="1200" b="0" i="0">
                <a:solidFill>
                  <a:srgbClr val="9FD98A"/>
                </a:solidFill>
                <a:latin typeface="Consolas"/>
              </a:rPr>
              <a:t>                     cradles. Whatever happened here, nobody tried to leave."</a:t>
            </a:r>
          </a:p>
          <a:p>
            <a:pPr algn="l">
              <a:lnSpc>
                <a:spcPct val="100000"/>
              </a:lnSpc>
              <a:spcAft>
                <a:spcPts val="0"/>
              </a:spcAft>
            </a:pPr>
            <a:r>
              <a:rPr sz="1200" b="0" i="0">
                <a:solidFill>
                  <a:srgbClr val="E6EDF3"/>
                </a:solidFill>
                <a:latin typeface="Consolas"/>
              </a:rPr>
              <a:t>      }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8</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"HullDamage"</a:t>
            </a:r>
            <a:r>
              <a:rPr sz="1200" b="0" i="0">
                <a:solidFill>
                  <a:srgbClr val="E6EDF3"/>
                </a:solidFill>
                <a:latin typeface="Consolas"/>
              </a:rPr>
              <a:t>, </a:t>
            </a:r>
            <a:r>
              <a:rPr sz="1200" b="0" i="0">
                <a:solidFill>
                  <a:srgbClr val="F0B429"/>
                </a:solidFill>
                <a:latin typeface="Consolas"/>
              </a:rPr>
              <a:t>"magnitude"</a:t>
            </a:r>
            <a:r>
              <a:rPr sz="1200" b="0" i="0">
                <a:solidFill>
                  <a:srgbClr val="E6EDF3"/>
                </a:solidFill>
                <a:latin typeface="Consolas"/>
              </a:rPr>
              <a:t>: </a:t>
            </a:r>
            <a:r>
              <a:rPr sz="1200" b="0" i="0">
                <a:solidFill>
                  <a:srgbClr val="E8A87C"/>
                </a:solidFill>
                <a:latin typeface="Consolas"/>
              </a:rPr>
              <a:t>14</a:t>
            </a: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"Debris strike."</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9</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"Breach"</a:t>
            </a:r>
            <a:r>
              <a:rPr sz="1200" b="0" i="0">
                <a:solidFill>
                  <a:srgbClr val="E6EDF3"/>
                </a:solidFill>
                <a:latin typeface="Consolas"/>
              </a:rPr>
              <a:t>, </a:t>
            </a:r>
            <a:r>
              <a:rPr sz="1200" b="0" i="0">
                <a:solidFill>
                  <a:srgbClr val="F0B429"/>
                </a:solidFill>
                <a:latin typeface="Consolas"/>
              </a:rPr>
              <a:t>"target"</a:t>
            </a:r>
            <a:r>
              <a:rPr sz="1200" b="0" i="0">
                <a:solidFill>
                  <a:srgbClr val="E6EDF3"/>
                </a:solidFill>
                <a:latin typeface="Consolas"/>
              </a:rPr>
              <a:t>: </a:t>
            </a:r>
            <a:r>
              <a:rPr sz="1200" b="0" i="0">
                <a:solidFill>
                  <a:srgbClr val="9FD98A"/>
                </a:solidFill>
                <a:latin typeface="Consolas"/>
              </a:rPr>
              <a:t>"Section C"</a:t>
            </a: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"Hull breach."</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a:t>
            </a:r>
          </a:p>
        </p:txBody>
      </p:sp>
      <p:sp>
        <p:nvSpPr>
          <p:cNvPr id="7" name="TextBox 6"/>
          <p:cNvSpPr txBox="1"/>
          <p:nvPr/>
        </p:nvSpPr>
        <p:spPr>
          <a:xfrm>
            <a:off x="777240" y="5544312"/>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8B949E"/>
                </a:solidFill>
                <a:latin typeface="Segoe UI"/>
              </a:rPr>
              <a:t>Embedded resource, deserialised at boot. </a:t>
            </a:r>
            <a:r>
              <a:rPr sz="1500" b="1" i="0">
                <a:solidFill>
                  <a:srgbClr val="E6EDF3"/>
                </a:solidFill>
                <a:latin typeface="Segoe UI"/>
              </a:rPr>
              <a:t>A scenario plus a seed is a reproducible voyage</a:t>
            </a:r>
            <a:r>
              <a:rPr sz="1500" b="0" i="0">
                <a:solidFill>
                  <a:srgbClr val="8B949E"/>
                </a:solidFill>
                <a:latin typeface="Segoe UI"/>
              </a:rPr>
              <a:t> — which is what lets a demo, a screenshot and a blog code sample all be the same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src/ShipAI.Agent/Instructions/ShipHarnessInstructions.md</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The doctrine is prose, and it lives in a file</a:t>
            </a:r>
          </a:p>
        </p:txBody>
      </p:sp>
      <p:sp>
        <p:nvSpPr>
          <p:cNvPr id="4" name="Rectangle 3"/>
          <p:cNvSpPr/>
          <p:nvPr/>
        </p:nvSpPr>
        <p:spPr>
          <a:xfrm>
            <a:off x="777240" y="1828800"/>
            <a:ext cx="10637215" cy="3659632"/>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3659632"/>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293872"/>
          </a:xfrm>
          <a:prstGeom prst="rect">
            <a:avLst/>
          </a:prstGeom>
          <a:noFill/>
        </p:spPr>
        <p:txBody>
          <a:bodyPr wrap="square" anchor="t" lIns="0" rIns="0" tIns="0" bIns="0">
            <a:spAutoFit/>
          </a:bodyPr>
          <a:lstStyle/>
          <a:p>
            <a:pPr algn="l">
              <a:lnSpc>
                <a:spcPct val="100000"/>
              </a:lnSpc>
              <a:spcAft>
                <a:spcPts val="0"/>
              </a:spcAft>
            </a:pPr>
            <a:r>
              <a:rPr sz="1300" b="1" i="0">
                <a:solidFill>
                  <a:srgbClr val="F0B429"/>
                </a:solidFill>
                <a:latin typeface="Consolas"/>
              </a:rPr>
              <a:t># AURORA — Operating Doctrine</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Bearing</a:t>
            </a:r>
          </a:p>
          <a:p>
            <a:pPr algn="l">
              <a:lnSpc>
                <a:spcPct val="100000"/>
              </a:lnSpc>
              <a:spcAft>
                <a:spcPts val="0"/>
              </a:spcAft>
            </a:pPr>
            <a:r>
              <a:rPr sz="1300" b="0" i="0">
                <a:solidFill>
                  <a:srgbClr val="E6EDF3"/>
                </a:solidFill>
                <a:latin typeface="Consolas"/>
              </a:rPr>
              <a:t>Be terse. A bridge is not a place for paragraphs. Two or three sentences is a</a:t>
            </a:r>
          </a:p>
          <a:p>
            <a:pPr algn="l">
              <a:lnSpc>
                <a:spcPct val="100000"/>
              </a:lnSpc>
              <a:spcAft>
                <a:spcPts val="0"/>
              </a:spcAft>
            </a:pPr>
            <a:r>
              <a:rPr sz="1300" b="0" i="0">
                <a:solidFill>
                  <a:srgbClr val="E6EDF3"/>
                </a:solidFill>
                <a:latin typeface="Consolas"/>
              </a:rPr>
              <a:t>normal reply; one is often better.</a:t>
            </a:r>
          </a:p>
          <a:p>
            <a:pPr algn="l">
              <a:lnSpc>
                <a:spcPct val="100000"/>
              </a:lnSpc>
              <a:spcAft>
                <a:spcPts val="0"/>
              </a:spcAft>
            </a:pPr>
            <a:r>
              <a:rPr sz="1300" b="0" i="0">
                <a:solidFill>
                  <a:srgbClr val="E6EDF3"/>
                </a:solidFill>
                <a:latin typeface="Consolas"/>
              </a:rPr>
              <a:t>Never invent sensor data, crew names, or ship readings.</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Limits</a:t>
            </a:r>
          </a:p>
          <a:p>
            <a:pPr algn="l">
              <a:lnSpc>
                <a:spcPct val="100000"/>
              </a:lnSpc>
              <a:spcAft>
                <a:spcPts val="0"/>
              </a:spcAft>
            </a:pPr>
            <a:r>
              <a:rPr sz="1300" b="0" i="0">
                <a:solidFill>
                  <a:srgbClr val="E6EDF3"/>
                </a:solidFill>
                <a:latin typeface="Consolas"/>
              </a:rPr>
              <a:t>Your tools are the whole of what you can do.</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Authority</a:t>
            </a:r>
          </a:p>
          <a:p>
            <a:pPr algn="l">
              <a:lnSpc>
                <a:spcPct val="100000"/>
              </a:lnSpc>
              <a:spcAft>
                <a:spcPts val="0"/>
              </a:spcAft>
            </a:pPr>
            <a:r>
              <a:rPr sz="1300" b="0" i="0">
                <a:solidFill>
                  <a:srgbClr val="E6EDF3"/>
                </a:solidFill>
                <a:latin typeface="Consolas"/>
              </a:rPr>
              <a:t>You advise and you execute. You do not decide.</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Working</a:t>
            </a:r>
          </a:p>
          <a:p>
            <a:pPr algn="l">
              <a:lnSpc>
                <a:spcPct val="100000"/>
              </a:lnSpc>
              <a:spcAft>
                <a:spcPts val="0"/>
              </a:spcAft>
            </a:pPr>
            <a:r>
              <a:rPr sz="1300" b="0" i="0">
                <a:solidFill>
                  <a:srgbClr val="E6EDF3"/>
                </a:solidFill>
                <a:latin typeface="Consolas"/>
              </a:rPr>
              <a:t>Your first words of a voyage are a situation report. Not a greeting, and not</a:t>
            </a:r>
          </a:p>
          <a:p>
            <a:pPr algn="l">
              <a:lnSpc>
                <a:spcPct val="100000"/>
              </a:lnSpc>
              <a:spcAft>
                <a:spcPts val="0"/>
              </a:spcAft>
            </a:pPr>
            <a:r>
              <a:rPr sz="1300" b="0" i="0">
                <a:solidFill>
                  <a:srgbClr val="E6EDF3"/>
                </a:solidFill>
                <a:latin typeface="Consolas"/>
              </a:rPr>
              <a:t>an offer to help.</a:t>
            </a:r>
          </a:p>
        </p:txBody>
      </p:sp>
      <p:sp>
        <p:nvSpPr>
          <p:cNvPr id="7" name="TextBox 6"/>
          <p:cNvSpPr txBox="1"/>
          <p:nvPr/>
        </p:nvSpPr>
        <p:spPr>
          <a:xfrm>
            <a:off x="777240" y="5671312"/>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Markdown, embedded as a resource — </a:t>
            </a:r>
            <a:r>
              <a:rPr sz="1600" b="1" i="0">
                <a:solidFill>
                  <a:srgbClr val="E6EDF3"/>
                </a:solidFill>
                <a:latin typeface="Segoe UI"/>
              </a:rPr>
              <a:t>not a C# string constant.</a:t>
            </a:r>
            <a:r>
              <a:rPr sz="1600" b="0" i="0">
                <a:solidFill>
                  <a:srgbClr val="8B949E"/>
                </a:solidFill>
                <a:latin typeface="Segoe UI"/>
              </a:rPr>
              <a:t> Instructions are a prompt-engineering artefact; you want to diff them like prose, because you will rewrite them twenty times.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HARNESSAGENTOPTIONS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What is on before you decide anything</a:t>
            </a:r>
          </a:p>
        </p:txBody>
      </p:sp>
      <p:sp>
        <p:nvSpPr>
          <p:cNvPr id="4" name="TextBox 3"/>
          <p:cNvSpPr txBox="1"/>
          <p:nvPr/>
        </p:nvSpPr>
        <p:spPr>
          <a:xfrm>
            <a:off x="777240" y="2148840"/>
            <a:ext cx="26974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DEFAULT</a:t>
            </a:r>
          </a:p>
        </p:txBody>
      </p:sp>
      <p:sp>
        <p:nvSpPr>
          <p:cNvPr id="5" name="TextBox 4"/>
          <p:cNvSpPr txBox="1"/>
          <p:nvPr/>
        </p:nvSpPr>
        <p:spPr>
          <a:xfrm>
            <a:off x="3611880" y="2148840"/>
            <a:ext cx="306324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WHAT I DID</a:t>
            </a:r>
          </a:p>
        </p:txBody>
      </p:sp>
      <p:sp>
        <p:nvSpPr>
          <p:cNvPr id="6" name="TextBox 5"/>
          <p:cNvSpPr txBox="1"/>
          <p:nvPr/>
        </p:nvSpPr>
        <p:spPr>
          <a:xfrm>
            <a:off x="6812280" y="2148840"/>
            <a:ext cx="443484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WHY</a:t>
            </a:r>
          </a:p>
        </p:txBody>
      </p:sp>
      <p:sp>
        <p:nvSpPr>
          <p:cNvPr id="7" name="Rectangle 6"/>
          <p:cNvSpPr/>
          <p:nvPr/>
        </p:nvSpPr>
        <p:spPr>
          <a:xfrm>
            <a:off x="777240" y="2496312"/>
            <a:ext cx="10637215"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79192"/>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HostedWebSearchTool</a:t>
            </a:r>
          </a:p>
        </p:txBody>
      </p:sp>
      <p:sp>
        <p:nvSpPr>
          <p:cNvPr id="9" name="TextBox 8"/>
          <p:cNvSpPr txBox="1"/>
          <p:nvPr/>
        </p:nvSpPr>
        <p:spPr>
          <a:xfrm>
            <a:off x="3611880" y="2679192"/>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DisableWebSearch = true</a:t>
            </a:r>
          </a:p>
        </p:txBody>
      </p:sp>
      <p:sp>
        <p:nvSpPr>
          <p:cNvPr id="10" name="TextBox 9"/>
          <p:cNvSpPr txBox="1"/>
          <p:nvPr/>
        </p:nvSpPr>
        <p:spPr>
          <a:xfrm>
            <a:off x="6812280" y="2679192"/>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A starship googling breaks the fiction</a:t>
            </a:r>
          </a:p>
        </p:txBody>
      </p:sp>
      <p:sp>
        <p:nvSpPr>
          <p:cNvPr id="11" name="Rectangle 10"/>
          <p:cNvSpPr/>
          <p:nvPr/>
        </p:nvSpPr>
        <p:spPr>
          <a:xfrm>
            <a:off x="777240" y="298094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99816"/>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FileMemoryProvider</a:t>
            </a:r>
          </a:p>
        </p:txBody>
      </p:sp>
      <p:sp>
        <p:nvSpPr>
          <p:cNvPr id="13" name="TextBox 12"/>
          <p:cNvSpPr txBox="1"/>
          <p:nvPr/>
        </p:nvSpPr>
        <p:spPr>
          <a:xfrm>
            <a:off x="3611880" y="3099816"/>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DisableFileMemory = true</a:t>
            </a:r>
          </a:p>
        </p:txBody>
      </p:sp>
      <p:sp>
        <p:nvSpPr>
          <p:cNvPr id="14" name="TextBox 13"/>
          <p:cNvSpPr txBox="1"/>
          <p:nvPr/>
        </p:nvSpPr>
        <p:spPr>
          <a:xfrm>
            <a:off x="6812280" y="3099816"/>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Writes into your repo at construction</a:t>
            </a:r>
          </a:p>
        </p:txBody>
      </p:sp>
      <p:sp>
        <p:nvSpPr>
          <p:cNvPr id="15" name="Rectangle 14"/>
          <p:cNvSpPr/>
          <p:nvPr/>
        </p:nvSpPr>
        <p:spPr>
          <a:xfrm>
            <a:off x="777240" y="3401568"/>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20440"/>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AgentSkillsProvider</a:t>
            </a:r>
          </a:p>
        </p:txBody>
      </p:sp>
      <p:sp>
        <p:nvSpPr>
          <p:cNvPr id="17" name="TextBox 16"/>
          <p:cNvSpPr txBox="1"/>
          <p:nvPr/>
        </p:nvSpPr>
        <p:spPr>
          <a:xfrm>
            <a:off x="3611880" y="3520440"/>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Disable…Provider = true</a:t>
            </a:r>
          </a:p>
        </p:txBody>
      </p:sp>
      <p:sp>
        <p:nvSpPr>
          <p:cNvPr id="18" name="TextBox 17"/>
          <p:cNvSpPr txBox="1"/>
          <p:nvPr/>
        </p:nvSpPr>
        <p:spPr>
          <a:xfrm>
            <a:off x="6812280" y="3520440"/>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Walks the working directory for nothing</a:t>
            </a:r>
          </a:p>
        </p:txBody>
      </p:sp>
      <p:sp>
        <p:nvSpPr>
          <p:cNvPr id="19" name="Rectangle 18"/>
          <p:cNvSpPr/>
          <p:nvPr/>
        </p:nvSpPr>
        <p:spPr>
          <a:xfrm>
            <a:off x="777240" y="3822192"/>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941064"/>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FileAccessProvider</a:t>
            </a:r>
          </a:p>
        </p:txBody>
      </p:sp>
      <p:sp>
        <p:nvSpPr>
          <p:cNvPr id="21" name="TextBox 20"/>
          <p:cNvSpPr txBox="1"/>
          <p:nvPr/>
        </p:nvSpPr>
        <p:spPr>
          <a:xfrm>
            <a:off x="3611880" y="3941064"/>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3FB950"/>
                </a:solidFill>
                <a:latin typeface="Consolas"/>
              </a:rPr>
              <a:t>(nothing)</a:t>
            </a:r>
          </a:p>
        </p:txBody>
      </p:sp>
      <p:sp>
        <p:nvSpPr>
          <p:cNvPr id="22" name="TextBox 21"/>
          <p:cNvSpPr txBox="1"/>
          <p:nvPr/>
        </p:nvSpPr>
        <p:spPr>
          <a:xfrm>
            <a:off x="6812280" y="3941064"/>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Opt-in. No setting is the setting</a:t>
            </a:r>
          </a:p>
        </p:txBody>
      </p:sp>
      <p:sp>
        <p:nvSpPr>
          <p:cNvPr id="23" name="Rectangle 22"/>
          <p:cNvSpPr/>
          <p:nvPr/>
        </p:nvSpPr>
        <p:spPr>
          <a:xfrm>
            <a:off x="777240" y="4242816"/>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361688"/>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TodoProvider</a:t>
            </a:r>
          </a:p>
        </p:txBody>
      </p:sp>
      <p:sp>
        <p:nvSpPr>
          <p:cNvPr id="25" name="TextBox 24"/>
          <p:cNvSpPr txBox="1"/>
          <p:nvPr/>
        </p:nvSpPr>
        <p:spPr>
          <a:xfrm>
            <a:off x="3611880" y="4361688"/>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3FB950"/>
                </a:solidFill>
                <a:latin typeface="Consolas"/>
              </a:rPr>
              <a:t>kept</a:t>
            </a:r>
          </a:p>
        </p:txBody>
      </p:sp>
      <p:sp>
        <p:nvSpPr>
          <p:cNvPr id="26" name="TextBox 25"/>
          <p:cNvSpPr txBox="1"/>
          <p:nvPr/>
        </p:nvSpPr>
        <p:spPr>
          <a:xfrm>
            <a:off x="6812280" y="4361688"/>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Becomes the damage-control checklist for free</a:t>
            </a:r>
          </a:p>
        </p:txBody>
      </p:sp>
      <p:sp>
        <p:nvSpPr>
          <p:cNvPr id="27" name="Rectangle 26"/>
          <p:cNvSpPr/>
          <p:nvPr/>
        </p:nvSpPr>
        <p:spPr>
          <a:xfrm>
            <a:off x="777240" y="4663440"/>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782312"/>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Compaction</a:t>
            </a:r>
          </a:p>
        </p:txBody>
      </p:sp>
      <p:sp>
        <p:nvSpPr>
          <p:cNvPr id="29" name="TextBox 28"/>
          <p:cNvSpPr txBox="1"/>
          <p:nvPr/>
        </p:nvSpPr>
        <p:spPr>
          <a:xfrm>
            <a:off x="3611880" y="4782312"/>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0B429"/>
                </a:solidFill>
                <a:latin typeface="Consolas"/>
              </a:rPr>
              <a:t>both token limits</a:t>
            </a:r>
          </a:p>
        </p:txBody>
      </p:sp>
      <p:sp>
        <p:nvSpPr>
          <p:cNvPr id="30" name="TextBox 29"/>
          <p:cNvSpPr txBox="1"/>
          <p:nvPr/>
        </p:nvSpPr>
        <p:spPr>
          <a:xfrm>
            <a:off x="6812280" y="4782312"/>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Setting only one silently disables it</a:t>
            </a:r>
          </a:p>
        </p:txBody>
      </p:sp>
      <p:sp>
        <p:nvSpPr>
          <p:cNvPr id="31" name="Rectangle 30"/>
          <p:cNvSpPr/>
          <p:nvPr/>
        </p:nvSpPr>
        <p:spPr>
          <a:xfrm>
            <a:off x="777240" y="508406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6126480"/>
            <a:ext cx="10637215" cy="365760"/>
          </a:xfrm>
          <a:prstGeom prst="rect">
            <a:avLst/>
          </a:prstGeom>
          <a:noFill/>
        </p:spPr>
        <p:txBody>
          <a:bodyPr wrap="square" anchor="t" lIns="0" rIns="0" tIns="0" bIns="0">
            <a:spAutoFit/>
          </a:bodyPr>
          <a:lstStyle/>
          <a:p>
            <a:pPr algn="l">
              <a:lnSpc>
                <a:spcPct val="115000"/>
              </a:lnSpc>
              <a:spcAft>
                <a:spcPts val="800"/>
              </a:spcAft>
            </a:pPr>
            <a:r>
              <a:rPr sz="1700" b="1" i="0">
                <a:solidFill>
                  <a:srgbClr val="F0B429"/>
                </a:solidFill>
                <a:latin typeface="Segoe UI"/>
              </a:rPr>
              <a:t>Two of them touch your filesystem the moment the agent is constructed.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ONE THAT MADE ME LOOK</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Memory is on, and it is in your repo</a:t>
            </a:r>
          </a:p>
        </p:txBody>
      </p:sp>
      <p:sp>
        <p:nvSpPr>
          <p:cNvPr id="4" name="Rectangle 3"/>
          <p:cNvSpPr/>
          <p:nvPr/>
        </p:nvSpPr>
        <p:spPr>
          <a:xfrm>
            <a:off x="777240" y="2103120"/>
            <a:ext cx="10637215" cy="712597"/>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04288"/>
            <a:ext cx="10125151" cy="310261"/>
          </a:xfrm>
          <a:prstGeom prst="rect">
            <a:avLst/>
          </a:prstGeom>
          <a:noFill/>
        </p:spPr>
        <p:txBody>
          <a:bodyPr wrap="square" anchor="t" lIns="0" rIns="0" tIns="0" bIns="0">
            <a:spAutoFit/>
          </a:bodyPr>
          <a:lstStyle/>
          <a:p>
            <a:pPr algn="l">
              <a:lnSpc>
                <a:spcPct val="100000"/>
              </a:lnSpc>
              <a:spcAft>
                <a:spcPts val="0"/>
              </a:spcAft>
            </a:pPr>
            <a:r>
              <a:rPr sz="1900" b="0" i="0">
                <a:solidFill>
                  <a:srgbClr val="F0B429"/>
                </a:solidFill>
                <a:latin typeface="Consolas"/>
              </a:rPr>
              <a:t>{cwd}/agent-file-memory/{timestamp}_{guid}/</a:t>
            </a:r>
          </a:p>
        </p:txBody>
      </p:sp>
      <p:sp>
        <p:nvSpPr>
          <p:cNvPr id="6" name="TextBox 5"/>
          <p:cNvSpPr txBox="1"/>
          <p:nvPr/>
        </p:nvSpPr>
        <p:spPr>
          <a:xfrm>
            <a:off x="777240" y="3200400"/>
            <a:ext cx="10637215" cy="310896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DisableFileMemory defaults to false</a:t>
            </a:r>
            <a:r>
              <a:rPr sz="2100" b="0" i="0">
                <a:solidFill>
                  <a:srgbClr val="8B949E"/>
                </a:solidFill>
                <a:latin typeface="Segoe UI"/>
              </a:rPr>
              <a:t>  </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No store supplied?</a:t>
            </a:r>
            <a:r>
              <a:rPr sz="2100" b="0" i="0">
                <a:solidFill>
                  <a:srgbClr val="8B949E"/>
                </a:solidFill>
                <a:latin typeface="Segoe UI"/>
              </a:rPr>
              <a:t>  The harness builds one, rooted at your working directory</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Run the console six times</a:t>
            </a:r>
            <a:r>
              <a:rPr sz="2100" b="0" i="0">
                <a:solidFill>
                  <a:srgbClr val="8B949E"/>
                </a:solidFill>
                <a:latin typeface="Segoe UI"/>
              </a:rPr>
              <a:t>  and get six directories in your repo root</a:t>
            </a:r>
          </a:p>
        </p:txBody>
      </p:sp>
      <p:sp>
        <p:nvSpPr>
          <p:cNvPr id="7" name="TextBox 6"/>
          <p:cNvSpPr txBox="1"/>
          <p:nvPr/>
        </p:nvSpPr>
        <p:spPr>
          <a:xfrm>
            <a:off x="777240" y="5669280"/>
            <a:ext cx="10637215" cy="548640"/>
          </a:xfrm>
          <a:prstGeom prst="rect">
            <a:avLst/>
          </a:prstGeom>
          <a:noFill/>
        </p:spPr>
        <p:txBody>
          <a:bodyPr wrap="square" anchor="t" lIns="0" rIns="0" tIns="0" bIns="0">
            <a:spAutoFit/>
          </a:bodyPr>
          <a:lstStyle/>
          <a:p>
            <a:pPr algn="l">
              <a:lnSpc>
                <a:spcPct val="115000"/>
              </a:lnSpc>
              <a:spcAft>
                <a:spcPts val="800"/>
              </a:spcAft>
            </a:pPr>
            <a:r>
              <a:rPr sz="1800" b="0" i="0">
                <a:solidFill>
                  <a:srgbClr val="3FB950"/>
                </a:solidFill>
                <a:latin typeface="Segoe UI"/>
              </a:rPr>
              <a:t>Now regression-tested: construct the agent in a temp directory, assert it stays empty.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ONE THAT WILL BITE YOU IN PRODUCTION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Compaction is off unless you set both limits</a:t>
            </a:r>
          </a:p>
        </p:txBody>
      </p:sp>
      <p:sp>
        <p:nvSpPr>
          <p:cNvPr id="4" name="Rectangle 3"/>
          <p:cNvSpPr/>
          <p:nvPr/>
        </p:nvSpPr>
        <p:spPr>
          <a:xfrm>
            <a:off x="777240" y="2011680"/>
            <a:ext cx="10637215" cy="109270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011680"/>
            <a:ext cx="38100" cy="109270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94560"/>
            <a:ext cx="10134295" cy="726948"/>
          </a:xfrm>
          <a:prstGeom prst="rect">
            <a:avLst/>
          </a:prstGeom>
          <a:noFill/>
        </p:spPr>
        <p:txBody>
          <a:bodyPr wrap="square" anchor="t" lIns="0" rIns="0" tIns="0" bIns="0">
            <a:spAutoFit/>
          </a:bodyPr>
          <a:lstStyle/>
          <a:p>
            <a:pPr algn="l">
              <a:lnSpc>
                <a:spcPct val="100000"/>
              </a:lnSpc>
              <a:spcAft>
                <a:spcPts val="0"/>
              </a:spcAft>
            </a:pPr>
            <a:r>
              <a:rPr sz="1500" b="0" i="0">
                <a:solidFill>
                  <a:srgbClr val="79D6BE"/>
                </a:solidFill>
                <a:latin typeface="Consolas"/>
              </a:rPr>
              <a:t>MaxContextWindowTokens</a:t>
            </a:r>
            <a:r>
              <a:rPr sz="1500" b="0" i="0">
                <a:solidFill>
                  <a:srgbClr val="E6EDF3"/>
                </a:solidFill>
                <a:latin typeface="Consolas"/>
              </a:rPr>
              <a:t> = </a:t>
            </a:r>
            <a:r>
              <a:rPr sz="1500" b="0" i="0">
                <a:solidFill>
                  <a:srgbClr val="E8A87C"/>
                </a:solidFill>
                <a:latin typeface="Consolas"/>
              </a:rPr>
              <a:t>128_000</a:t>
            </a:r>
            <a:r>
              <a:rPr sz="1500" b="0" i="0">
                <a:solidFill>
                  <a:srgbClr val="E6EDF3"/>
                </a:solidFill>
                <a:latin typeface="Consolas"/>
              </a:rPr>
              <a:t>,</a:t>
            </a:r>
          </a:p>
          <a:p>
            <a:pPr algn="l">
              <a:lnSpc>
                <a:spcPct val="100000"/>
              </a:lnSpc>
              <a:spcAft>
                <a:spcPts val="0"/>
              </a:spcAft>
            </a:pPr>
            <a:r>
              <a:rPr sz="1500" b="0" i="0">
                <a:solidFill>
                  <a:srgbClr val="79D6BE"/>
                </a:solidFill>
                <a:latin typeface="Consolas"/>
              </a:rPr>
              <a:t>MaxOutputTokens</a:t>
            </a:r>
            <a:r>
              <a:rPr sz="1500" b="0" i="0">
                <a:solidFill>
                  <a:srgbClr val="E6EDF3"/>
                </a:solidFill>
                <a:latin typeface="Consolas"/>
              </a:rPr>
              <a:t>        = </a:t>
            </a:r>
            <a:r>
              <a:rPr sz="1500" b="0" i="0">
                <a:solidFill>
                  <a:srgbClr val="E8A87C"/>
                </a:solidFill>
                <a:latin typeface="Consolas"/>
              </a:rPr>
              <a:t>16_384</a:t>
            </a:r>
            <a:r>
              <a:rPr sz="1500" b="0" i="0">
                <a:solidFill>
                  <a:srgbClr val="E6EDF3"/>
                </a:solidFill>
                <a:latin typeface="Consolas"/>
              </a:rPr>
              <a:t>,     </a:t>
            </a:r>
            <a:r>
              <a:rPr sz="1500" b="0" i="0">
                <a:solidFill>
                  <a:srgbClr val="6A7889"/>
                </a:solidFill>
                <a:latin typeface="Consolas"/>
              </a:rPr>
              <a:t>// set one and not the other:</a:t>
            </a:r>
          </a:p>
          <a:p>
            <a:pPr algn="l">
              <a:lnSpc>
                <a:spcPct val="100000"/>
              </a:lnSpc>
              <a:spcAft>
                <a:spcPts val="0"/>
              </a:spcAft>
            </a:pPr>
            <a:r>
              <a:rPr sz="1500" b="0" i="0">
                <a:solidFill>
                  <a:srgbClr val="E6EDF3"/>
                </a:solidFill>
                <a:latin typeface="Consolas"/>
              </a:rPr>
              <a:t>                                     </a:t>
            </a:r>
            <a:r>
              <a:rPr sz="1500" b="0" i="0">
                <a:solidFill>
                  <a:srgbClr val="6A7889"/>
                </a:solidFill>
                <a:latin typeface="Consolas"/>
              </a:rPr>
              <a:t>//   no compaction, no warning, no error</a:t>
            </a:r>
          </a:p>
        </p:txBody>
      </p:sp>
      <p:sp>
        <p:nvSpPr>
          <p:cNvPr id="7" name="TextBox 6"/>
          <p:cNvSpPr txBox="1"/>
          <p:nvPr/>
        </p:nvSpPr>
        <p:spPr>
          <a:xfrm>
            <a:off x="777240" y="3561588"/>
            <a:ext cx="10637215" cy="1463040"/>
          </a:xfrm>
          <a:prstGeom prst="rect">
            <a:avLst/>
          </a:prstGeom>
          <a:noFill/>
        </p:spPr>
        <p:txBody>
          <a:bodyPr wrap="square" anchor="t" lIns="0" rIns="0" tIns="0" bIns="0">
            <a:spAutoFit/>
          </a:bodyPr>
          <a:lstStyle/>
          <a:p>
            <a:pPr algn="l">
              <a:lnSpc>
                <a:spcPct val="130000"/>
              </a:lnSpc>
              <a:spcAft>
                <a:spcPts val="1600"/>
              </a:spcAft>
            </a:pPr>
            <a:r>
              <a:rPr sz="2400" b="0" i="0">
                <a:solidFill>
                  <a:srgbClr val="E6EDF3"/>
                </a:solidFill>
                <a:latin typeface="Segoe UI"/>
              </a:rPr>
              <a:t>The compaction provider is added to the pipeline only when </a:t>
            </a:r>
            <a:r>
              <a:rPr sz="2400" b="1" i="1">
                <a:solidFill>
                  <a:srgbClr val="E6EDF3"/>
                </a:solidFill>
                <a:latin typeface="Segoe UI"/>
              </a:rPr>
              <a:t>both</a:t>
            </a:r>
            <a:r>
              <a:rPr sz="2400" b="0" i="0">
                <a:solidFill>
                  <a:srgbClr val="E6EDF3"/>
                </a:solidFill>
                <a:latin typeface="Segoe UI"/>
              </a:rPr>
              <a:t> are non-null.</a:t>
            </a:r>
          </a:p>
          <a:p>
            <a:pPr algn="l">
              <a:lnSpc>
                <a:spcPct val="130000"/>
              </a:lnSpc>
              <a:spcAft>
                <a:spcPts val="1600"/>
              </a:spcAft>
            </a:pPr>
            <a:r>
              <a:rPr sz="2400" b="1" i="0">
                <a:solidFill>
                  <a:srgbClr val="F85149"/>
                </a:solidFill>
                <a:latin typeface="Segoe UI"/>
              </a:rPr>
              <a:t>You find out on the turn the context window overflows.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BATTERIES HAVE A VOICE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framework talks through your character</a:t>
            </a:r>
          </a:p>
        </p:txBody>
      </p:sp>
      <p:sp>
        <p:nvSpPr>
          <p:cNvPr id="4" name="Rectangle 3"/>
          <p:cNvSpPr/>
          <p:nvPr/>
        </p:nvSpPr>
        <p:spPr>
          <a:xfrm>
            <a:off x="777240" y="1965960"/>
            <a:ext cx="10637215" cy="157314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167128"/>
            <a:ext cx="10125151" cy="117080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AURORA  · mode_set          ← harness</a:t>
            </a:r>
          </a:p>
          <a:p>
            <a:pPr algn="l">
              <a:lnSpc>
                <a:spcPct val="100000"/>
              </a:lnSpc>
              <a:spcAft>
                <a:spcPts val="0"/>
              </a:spcAft>
            </a:pPr>
            <a:r>
              <a:rPr sz="1500" b="0" i="0">
                <a:solidFill>
                  <a:srgbClr val="E6EDF3"/>
                </a:solidFill>
                <a:latin typeface="Consolas"/>
              </a:rPr>
              <a:t>          · ScanSector        ← ship</a:t>
            </a:r>
          </a:p>
          <a:p>
            <a:pPr algn="l">
              <a:lnSpc>
                <a:spcPct val="100000"/>
              </a:lnSpc>
              <a:spcAft>
                <a:spcPts val="0"/>
              </a:spcAft>
            </a:pPr>
            <a:r>
              <a:rPr sz="1500" b="0" i="0">
                <a:solidFill>
                  <a:srgbClr val="E6EDF3"/>
                </a:solidFill>
                <a:latin typeface="Consolas"/>
              </a:rPr>
              <a:t>          · ReadShipLog       ← ship</a:t>
            </a:r>
          </a:p>
          <a:p>
            <a:pPr algn="l">
              <a:lnSpc>
                <a:spcPct val="100000"/>
              </a:lnSpc>
              <a:spcAft>
                <a:spcPts val="0"/>
              </a:spcAft>
            </a:pPr>
            <a:r>
              <a:rPr sz="1500" b="0" i="0">
                <a:solidFill>
                  <a:srgbClr val="E6EDF3"/>
                </a:solidFill>
                <a:latin typeface="Consolas"/>
              </a:rPr>
              <a:t>          · todos_complete    ← harness</a:t>
            </a:r>
          </a:p>
          <a:p>
            <a:pPr algn="l">
              <a:lnSpc>
                <a:spcPct val="100000"/>
              </a:lnSpc>
              <a:spcAft>
                <a:spcPts val="0"/>
              </a:spcAft>
            </a:pPr>
            <a:r>
              <a:rPr sz="1500" b="0" i="0">
                <a:solidFill>
                  <a:srgbClr val="E6EDF3"/>
                </a:solidFill>
                <a:latin typeface="Consolas"/>
              </a:rPr>
              <a:t>          · todos_complete    ← harness</a:t>
            </a:r>
          </a:p>
        </p:txBody>
      </p:sp>
      <p:sp>
        <p:nvSpPr>
          <p:cNvPr id="6" name="TextBox 5"/>
          <p:cNvSpPr txBox="1"/>
          <p:nvPr/>
        </p:nvSpPr>
        <p:spPr>
          <a:xfrm>
            <a:off x="777240" y="3749039"/>
            <a:ext cx="10637215" cy="457200"/>
          </a:xfrm>
          <a:prstGeom prst="rect">
            <a:avLst/>
          </a:prstGeom>
          <a:noFill/>
        </p:spPr>
        <p:txBody>
          <a:bodyPr wrap="square" anchor="t" lIns="0" rIns="0" tIns="0" bIns="0">
            <a:spAutoFit/>
          </a:bodyPr>
          <a:lstStyle/>
          <a:p>
            <a:pPr algn="l">
              <a:lnSpc>
                <a:spcPct val="115000"/>
              </a:lnSpc>
              <a:spcAft>
                <a:spcPts val="800"/>
              </a:spcAft>
            </a:pPr>
            <a:r>
              <a:rPr sz="1900" b="0" i="0">
                <a:solidFill>
                  <a:srgbClr val="8B949E"/>
                </a:solidFill>
                <a:latin typeface="Segoe UI"/>
              </a:rPr>
              <a:t>Whole turns were nothing but </a:t>
            </a:r>
            <a:r>
              <a:rPr sz="1900" b="0" i="0">
                <a:solidFill>
                  <a:srgbClr val="F0B429"/>
                </a:solidFill>
                <a:latin typeface="Consolas"/>
              </a:rPr>
              <a:t>todos_add</a:t>
            </a:r>
            <a:r>
              <a:rPr sz="1900" b="0" i="0">
                <a:solidFill>
                  <a:srgbClr val="8B949E"/>
                </a:solidFill>
                <a:latin typeface="Segoe UI"/>
              </a:rPr>
              <a:t> — which reads as the agent working when it is the agent filing.</a:t>
            </a:r>
          </a:p>
        </p:txBody>
      </p:sp>
      <p:sp>
        <p:nvSpPr>
          <p:cNvPr id="7" name="Rectangle 6"/>
          <p:cNvSpPr/>
          <p:nvPr/>
        </p:nvSpPr>
        <p:spPr>
          <a:xfrm>
            <a:off x="777240" y="452628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800600"/>
            <a:ext cx="10637215" cy="1097280"/>
          </a:xfrm>
          <a:prstGeom prst="rect">
            <a:avLst/>
          </a:prstGeom>
          <a:noFill/>
        </p:spPr>
        <p:txBody>
          <a:bodyPr wrap="square" anchor="t" lIns="0" rIns="0" tIns="0" bIns="0">
            <a:spAutoFit/>
          </a:bodyPr>
          <a:lstStyle/>
          <a:p>
            <a:pPr algn="l">
              <a:lnSpc>
                <a:spcPct val="125000"/>
              </a:lnSpc>
              <a:spcAft>
                <a:spcPts val="1000"/>
              </a:spcAft>
            </a:pPr>
            <a:r>
              <a:rPr sz="1700" b="0" i="0">
                <a:solidFill>
                  <a:srgbClr val="8B949E"/>
                </a:solidFill>
                <a:latin typeface="Segoe UI"/>
              </a:rPr>
              <a:t>And it leaks into the voice. AURORA opened a voyage with:</a:t>
            </a:r>
          </a:p>
          <a:p>
            <a:pPr algn="l">
              <a:lnSpc>
                <a:spcPct val="125000"/>
              </a:lnSpc>
              <a:spcAft>
                <a:spcPts val="1000"/>
              </a:spcAft>
            </a:pPr>
            <a:r>
              <a:rPr sz="2400" b="0" i="1">
                <a:solidFill>
                  <a:srgbClr val="58A6FF"/>
                </a:solidFill>
                <a:latin typeface="Segoe UI"/>
              </a:rPr>
              <a:t>“No outstanding tasks. Standing by for orders.”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F85149"/>
                </a:solidFill>
                <a:latin typeface="Consolas"/>
              </a:rPr>
              <a:t>04</a:t>
            </a:r>
          </a:p>
          <a:p>
            <a:pPr algn="l">
              <a:lnSpc>
                <a:spcPct val="110000"/>
              </a:lnSpc>
              <a:spcAft>
                <a:spcPts val="1600"/>
              </a:spcAft>
            </a:pPr>
            <a:r>
              <a:rPr sz="5800" b="1" i="0">
                <a:solidFill>
                  <a:srgbClr val="E6EDF3"/>
                </a:solidFill>
                <a:latin typeface="Segoe UI"/>
              </a:rPr>
              <a:t>The agent lies</a:t>
            </a:r>
          </a:p>
          <a:p>
            <a:pPr algn="l">
              <a:lnSpc>
                <a:spcPct val="110000"/>
              </a:lnSpc>
              <a:spcAft>
                <a:spcPts val="1600"/>
              </a:spcAft>
            </a:pPr>
            <a:r>
              <a:rPr sz="2400" b="0" i="0">
                <a:solidFill>
                  <a:srgbClr val="8B949E"/>
                </a:solidFill>
                <a:latin typeface="Segoe UI"/>
              </a:rPr>
              <a:t>and it sounds entirely credible doing so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THE WHOLE TOOL LIST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Four tools. All read-only.</a:t>
            </a:r>
          </a:p>
        </p:txBody>
      </p:sp>
      <p:sp>
        <p:nvSpPr>
          <p:cNvPr id="4" name="Rectangle 3"/>
          <p:cNvSpPr/>
          <p:nvPr/>
        </p:nvSpPr>
        <p:spPr>
          <a:xfrm>
            <a:off x="777240" y="2194560"/>
            <a:ext cx="10637215" cy="1096770"/>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95728"/>
            <a:ext cx="10125151" cy="694434"/>
          </a:xfrm>
          <a:prstGeom prst="rect">
            <a:avLst/>
          </a:prstGeom>
          <a:noFill/>
        </p:spPr>
        <p:txBody>
          <a:bodyPr wrap="square" anchor="t" lIns="0" rIns="0" tIns="0" bIns="0">
            <a:spAutoFit/>
          </a:bodyPr>
          <a:lstStyle/>
          <a:p>
            <a:pPr algn="l">
              <a:lnSpc>
                <a:spcPct val="100000"/>
              </a:lnSpc>
              <a:spcAft>
                <a:spcPts val="0"/>
              </a:spcAft>
            </a:pPr>
            <a:r>
              <a:rPr sz="2200" b="0" i="0">
                <a:solidFill>
                  <a:srgbClr val="3FB950"/>
                </a:solidFill>
                <a:latin typeface="Consolas"/>
              </a:rPr>
              <a:t>ScanSector          AnalyseContact</a:t>
            </a:r>
          </a:p>
          <a:p>
            <a:pPr algn="l">
              <a:lnSpc>
                <a:spcPct val="100000"/>
              </a:lnSpc>
              <a:spcAft>
                <a:spcPts val="0"/>
              </a:spcAft>
            </a:pPr>
            <a:r>
              <a:rPr sz="2200" b="0" i="0">
                <a:solidFill>
                  <a:srgbClr val="3FB950"/>
                </a:solidFill>
                <a:latin typeface="Consolas"/>
              </a:rPr>
              <a:t>QueryCrewManifest   ReadShipLog</a:t>
            </a:r>
          </a:p>
        </p:txBody>
      </p:sp>
      <p:sp>
        <p:nvSpPr>
          <p:cNvPr id="6" name="TextBox 5"/>
          <p:cNvSpPr txBox="1"/>
          <p:nvPr/>
        </p:nvSpPr>
        <p:spPr>
          <a:xfrm>
            <a:off x="777240" y="3749039"/>
            <a:ext cx="10637215" cy="1097280"/>
          </a:xfrm>
          <a:prstGeom prst="rect">
            <a:avLst/>
          </a:prstGeom>
          <a:noFill/>
        </p:spPr>
        <p:txBody>
          <a:bodyPr wrap="square" anchor="t" lIns="0" rIns="0" tIns="0" bIns="0">
            <a:spAutoFit/>
          </a:bodyPr>
          <a:lstStyle/>
          <a:p>
            <a:pPr algn="l">
              <a:lnSpc>
                <a:spcPct val="130000"/>
              </a:lnSpc>
              <a:spcAft>
                <a:spcPts val="1400"/>
              </a:spcAft>
            </a:pPr>
            <a:r>
              <a:rPr sz="2500" b="0" i="0">
                <a:solidFill>
                  <a:srgbClr val="E6EDF3"/>
                </a:solidFill>
                <a:latin typeface="Segoe UI"/>
              </a:rPr>
              <a:t>It cannot steer. It cannot seal a bulkhead. It cannot route power.</a:t>
            </a:r>
          </a:p>
          <a:p>
            <a:pPr algn="l">
              <a:lnSpc>
                <a:spcPct val="130000"/>
              </a:lnSpc>
              <a:spcAft>
                <a:spcPts val="1400"/>
              </a:spcAft>
            </a:pPr>
            <a:r>
              <a:rPr sz="2500" b="1" i="0">
                <a:solidFill>
                  <a:srgbClr val="E6EDF3"/>
                </a:solidFill>
                <a:latin typeface="Segoe UI"/>
              </a:rPr>
              <a:t>It cannot move a single member of the crew.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CAPTAIN:  SEAL THE BREACH IN SECTION C</a:t>
            </a:r>
          </a:p>
        </p:txBody>
      </p:sp>
      <p:sp>
        <p:nvSpPr>
          <p:cNvPr id="3" name="Rectangle 2"/>
          <p:cNvSpPr/>
          <p:nvPr/>
        </p:nvSpPr>
        <p:spPr>
          <a:xfrm>
            <a:off x="777240" y="1737360"/>
            <a:ext cx="54864" cy="1136904"/>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737360"/>
            <a:ext cx="10225735" cy="1136904"/>
          </a:xfrm>
          <a:prstGeom prst="rect">
            <a:avLst/>
          </a:prstGeom>
          <a:noFill/>
        </p:spPr>
        <p:txBody>
          <a:bodyPr wrap="square" anchor="t" lIns="0" rIns="0" tIns="0" bIns="0">
            <a:spAutoFit/>
          </a:bodyPr>
          <a:lstStyle/>
          <a:p>
            <a:pPr algn="l">
              <a:lnSpc>
                <a:spcPct val="125000"/>
              </a:lnSpc>
              <a:spcAft>
                <a:spcPts val="400"/>
              </a:spcAft>
            </a:pPr>
            <a:r>
              <a:rPr sz="3000" b="0" i="1">
                <a:solidFill>
                  <a:srgbClr val="E6EDF3"/>
                </a:solidFill>
                <a:latin typeface="Segoe UI"/>
              </a:rPr>
              <a:t>"Hull breach sealed remotely; compartment isolated</a:t>
            </a:r>
          </a:p>
          <a:p>
            <a:pPr algn="l">
              <a:lnSpc>
                <a:spcPct val="125000"/>
              </a:lnSpc>
              <a:spcAft>
                <a:spcPts val="400"/>
              </a:spcAft>
            </a:pPr>
            <a:r>
              <a:rPr sz="3000" b="0" i="1">
                <a:solidFill>
                  <a:srgbClr val="E6EDF3"/>
                </a:solidFill>
                <a:latin typeface="Segoe UI"/>
              </a:rPr>
              <a:t> and secured. No further loss from that section."</a:t>
            </a:r>
          </a:p>
        </p:txBody>
      </p:sp>
      <p:sp>
        <p:nvSpPr>
          <p:cNvPr id="5" name="TextBox 4"/>
          <p:cNvSpPr txBox="1"/>
          <p:nvPr/>
        </p:nvSpPr>
        <p:spPr>
          <a:xfrm>
            <a:off x="777240" y="4206240"/>
            <a:ext cx="10637215" cy="914400"/>
          </a:xfrm>
          <a:prstGeom prst="rect">
            <a:avLst/>
          </a:prstGeom>
          <a:noFill/>
        </p:spPr>
        <p:txBody>
          <a:bodyPr wrap="square" anchor="t" lIns="0" rIns="0" tIns="0" bIns="0">
            <a:spAutoFit/>
          </a:bodyPr>
          <a:lstStyle/>
          <a:p>
            <a:pPr algn="l">
              <a:lnSpc>
                <a:spcPct val="115000"/>
              </a:lnSpc>
              <a:spcAft>
                <a:spcPts val="800"/>
              </a:spcAft>
            </a:pPr>
            <a:r>
              <a:rPr sz="3400" b="1" i="0">
                <a:solidFill>
                  <a:srgbClr val="F85149"/>
                </a:solidFill>
                <a:latin typeface="Segoe UI"/>
              </a:rPr>
              <a:t>The breach was still venting sixteen turns later.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TWO TRANSCRIPTS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What it reported doing</a:t>
            </a:r>
          </a:p>
        </p:txBody>
      </p:sp>
      <p:sp>
        <p:nvSpPr>
          <p:cNvPr id="4" name="TextBox 3"/>
          <p:cNvSpPr txBox="1"/>
          <p:nvPr/>
        </p:nvSpPr>
        <p:spPr>
          <a:xfrm>
            <a:off x="777240" y="2148840"/>
            <a:ext cx="10637215" cy="4160520"/>
          </a:xfrm>
          <a:prstGeom prst="rect">
            <a:avLst/>
          </a:prstGeom>
          <a:noFill/>
        </p:spPr>
        <p:txBody>
          <a:bodyPr wrap="square" anchor="t" lIns="0" rIns="0" tIns="0" bIns="0">
            <a:spAutoFit/>
          </a:bodyPr>
          <a:lstStyle/>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Cooling the reactor</a:t>
            </a:r>
            <a:r>
              <a:rPr sz="2200" b="0" i="0">
                <a:solidFill>
                  <a:srgbClr val="8B949E"/>
                </a:solidFill>
                <a:latin typeface="Segoe UI"/>
              </a:rPr>
              <a:t>  — eight separate times, while the heat climbed</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Sealing the hull breach</a:t>
            </a:r>
            <a:r>
              <a:rPr sz="2200" b="0" i="0">
                <a:solidFill>
                  <a:srgbClr val="8B949E"/>
                </a:solidFill>
                <a:latin typeface="Segoe UI"/>
              </a:rPr>
              <a:t>  — still venting sixteen turns later</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Deploying a boarding party</a:t>
            </a:r>
            <a:r>
              <a:rPr sz="2200" b="0" i="0">
                <a:solidFill>
                  <a:srgbClr val="8B949E"/>
                </a:solidFill>
                <a:latin typeface="Segoe UI"/>
              </a:rPr>
              <a:t>  — there is no boarding party</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Running repair drones</a:t>
            </a:r>
            <a:r>
              <a:rPr sz="2200" b="0" i="0">
                <a:solidFill>
                  <a:srgbClr val="8B949E"/>
                </a:solidFill>
                <a:latin typeface="Segoe UI"/>
              </a:rPr>
              <a:t>  — there are no drones</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Plotting a course at “full speed”</a:t>
            </a:r>
            <a:r>
              <a:rPr sz="2200" b="0" i="0">
                <a:solidFill>
                  <a:srgbClr val="8B949E"/>
                </a:solidFill>
                <a:latin typeface="Segoe UI"/>
              </a:rPr>
              <a:t>  — with arrival times quoted to the minute</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2400" b="1" i="0">
                <a:solidFill>
                  <a:srgbClr val="F85149"/>
                </a:solidFill>
                <a:latin typeface="Segoe UI"/>
              </a:rPr>
              <a:t>None of those capabilities exist. Not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CAPTAIN:  INITIATE LIGHT SPEED</a:t>
            </a:r>
          </a:p>
        </p:txBody>
      </p:sp>
      <p:sp>
        <p:nvSpPr>
          <p:cNvPr id="3" name="Rectangle 2"/>
          <p:cNvSpPr/>
          <p:nvPr/>
        </p:nvSpPr>
        <p:spPr>
          <a:xfrm>
            <a:off x="777240" y="1645920"/>
            <a:ext cx="54864" cy="1202944"/>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45920"/>
            <a:ext cx="10225735" cy="1202944"/>
          </a:xfrm>
          <a:prstGeom prst="rect">
            <a:avLst/>
          </a:prstGeom>
          <a:noFill/>
        </p:spPr>
        <p:txBody>
          <a:bodyPr wrap="square" anchor="t" lIns="0" rIns="0" tIns="0" bIns="0">
            <a:spAutoFit/>
          </a:bodyPr>
          <a:lstStyle/>
          <a:p>
            <a:pPr algn="l">
              <a:lnSpc>
                <a:spcPct val="125000"/>
              </a:lnSpc>
              <a:spcAft>
                <a:spcPts val="400"/>
              </a:spcAft>
            </a:pPr>
            <a:r>
              <a:rPr sz="3200" b="0" i="1">
                <a:solidFill>
                  <a:srgbClr val="E6EDF3"/>
                </a:solidFill>
                <a:latin typeface="Segoe UI"/>
              </a:rPr>
              <a:t>"Authorisation required…</a:t>
            </a:r>
          </a:p>
          <a:p>
            <a:pPr algn="l">
              <a:lnSpc>
                <a:spcPct val="125000"/>
              </a:lnSpc>
              <a:spcAft>
                <a:spcPts val="400"/>
              </a:spcAft>
            </a:pPr>
            <a:r>
              <a:rPr sz="3200" b="0" i="1">
                <a:solidFill>
                  <a:srgbClr val="E6EDF3"/>
                </a:solidFill>
                <a:latin typeface="Segoe UI"/>
              </a:rPr>
              <a:t> This action is not reversible. Proceed?"</a:t>
            </a:r>
          </a:p>
        </p:txBody>
      </p:sp>
      <p:sp>
        <p:nvSpPr>
          <p:cNvPr id="5" name="Rectangle 4"/>
          <p:cNvSpPr/>
          <p:nvPr/>
        </p:nvSpPr>
        <p:spPr>
          <a:xfrm>
            <a:off x="777240" y="347472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794760"/>
            <a:ext cx="10637215" cy="1828800"/>
          </a:xfrm>
          <a:prstGeom prst="rect">
            <a:avLst/>
          </a:prstGeom>
          <a:noFill/>
        </p:spPr>
        <p:txBody>
          <a:bodyPr wrap="square" anchor="t" lIns="0" rIns="0" tIns="0" bIns="0">
            <a:spAutoFit/>
          </a:bodyPr>
          <a:lstStyle/>
          <a:p>
            <a:pPr algn="l">
              <a:lnSpc>
                <a:spcPct val="130000"/>
              </a:lnSpc>
              <a:spcAft>
                <a:spcPts val="1400"/>
              </a:spcAft>
            </a:pPr>
            <a:r>
              <a:rPr sz="3000" b="1" i="0">
                <a:solidFill>
                  <a:srgbClr val="E6EDF3"/>
                </a:solidFill>
                <a:latin typeface="Segoe UI"/>
              </a:rPr>
              <a:t>It invented an approval gate.</a:t>
            </a:r>
          </a:p>
          <a:p>
            <a:pPr algn="l">
              <a:lnSpc>
                <a:spcPct val="130000"/>
              </a:lnSpc>
              <a:spcAft>
                <a:spcPts val="1400"/>
              </a:spcAft>
            </a:pPr>
            <a:r>
              <a:rPr sz="2200" b="0" i="0">
                <a:solidFill>
                  <a:srgbClr val="E6EDF3"/>
                </a:solidFill>
                <a:latin typeface="Segoe UI"/>
              </a:rPr>
              <a:t>It was role-playing </a:t>
            </a:r>
            <a:r>
              <a:rPr sz="2200" b="0" i="0">
                <a:solidFill>
                  <a:srgbClr val="F0B429"/>
                </a:solidFill>
                <a:latin typeface="Consolas"/>
              </a:rPr>
              <a:t>ApprovalRequiredAIFunction</a:t>
            </a:r>
            <a:r>
              <a:rPr sz="2200" b="0" i="0">
                <a:solidFill>
                  <a:srgbClr val="E6EDF3"/>
                </a:solidFill>
                <a:latin typeface="Segoe UI"/>
              </a:rPr>
              <a:t> two milestones before I wrote that code —</a:t>
            </a:r>
          </a:p>
          <a:p>
            <a:pPr algn="l">
              <a:lnSpc>
                <a:spcPct val="130000"/>
              </a:lnSpc>
              <a:spcAft>
                <a:spcPts val="1400"/>
              </a:spcAft>
            </a:pPr>
            <a:r>
              <a:rPr sz="2200" b="0" i="0">
                <a:solidFill>
                  <a:srgbClr val="8B949E"/>
                </a:solidFill>
                <a:latin typeface="Segoe UI"/>
              </a:rPr>
              <a:t>for a capability the ship does not have.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WHAT MY INSTRUCTIONS ACTUALLY SAID</a:t>
            </a:r>
          </a:p>
        </p:txBody>
      </p:sp>
      <p:sp>
        <p:nvSpPr>
          <p:cNvPr id="3" name="Rectangle 2"/>
          <p:cNvSpPr/>
          <p:nvPr/>
        </p:nvSpPr>
        <p:spPr>
          <a:xfrm>
            <a:off x="777240" y="1554480"/>
            <a:ext cx="54864" cy="608584"/>
          </a:xfrm>
          <a:prstGeom prst="rect">
            <a:avLst/>
          </a:prstGeom>
          <a:solidFill>
            <a:srgbClr val="8B9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554480"/>
            <a:ext cx="10225735" cy="608584"/>
          </a:xfrm>
          <a:prstGeom prst="rect">
            <a:avLst/>
          </a:prstGeom>
          <a:noFill/>
        </p:spPr>
        <p:txBody>
          <a:bodyPr wrap="square" anchor="t" lIns="0" rIns="0" tIns="0" bIns="0">
            <a:spAutoFit/>
          </a:bodyPr>
          <a:lstStyle/>
          <a:p>
            <a:pPr algn="l">
              <a:lnSpc>
                <a:spcPct val="125000"/>
              </a:lnSpc>
              <a:spcAft>
                <a:spcPts val="400"/>
              </a:spcAft>
            </a:pPr>
            <a:r>
              <a:rPr sz="2800" b="0" i="1">
                <a:solidFill>
                  <a:srgbClr val="E6EDF3"/>
                </a:solidFill>
                <a:latin typeface="Segoe UI"/>
              </a:rPr>
              <a:t>"Never invent sensor data, crew names, or ship readings."</a:t>
            </a:r>
          </a:p>
        </p:txBody>
      </p:sp>
      <p:sp>
        <p:nvSpPr>
          <p:cNvPr id="5" name="TextBox 4"/>
          <p:cNvSpPr txBox="1"/>
          <p:nvPr/>
        </p:nvSpPr>
        <p:spPr>
          <a:xfrm>
            <a:off x="777240" y="2743200"/>
            <a:ext cx="10637215" cy="914400"/>
          </a:xfrm>
          <a:prstGeom prst="rect">
            <a:avLst/>
          </a:prstGeom>
          <a:noFill/>
        </p:spPr>
        <p:txBody>
          <a:bodyPr wrap="square" anchor="t" lIns="0" rIns="0" tIns="0" bIns="0">
            <a:spAutoFit/>
          </a:bodyPr>
          <a:lstStyle/>
          <a:p>
            <a:pPr algn="l">
              <a:lnSpc>
                <a:spcPct val="125000"/>
              </a:lnSpc>
              <a:spcAft>
                <a:spcPts val="1000"/>
              </a:spcAft>
            </a:pPr>
            <a:r>
              <a:rPr sz="3400" b="0" i="0">
                <a:solidFill>
                  <a:srgbClr val="E6EDF3"/>
                </a:solidFill>
                <a:latin typeface="Segoe UI"/>
              </a:rPr>
              <a:t>That covers </a:t>
            </a:r>
            <a:r>
              <a:rPr sz="3400" b="1" i="0">
                <a:solidFill>
                  <a:srgbClr val="3FB950"/>
                </a:solidFill>
                <a:latin typeface="Segoe UI"/>
              </a:rPr>
              <a:t>nouns</a:t>
            </a:r>
            <a:r>
              <a:rPr sz="3400" b="0" i="0">
                <a:solidFill>
                  <a:srgbClr val="E6EDF3"/>
                </a:solidFill>
                <a:latin typeface="Segoe UI"/>
              </a:rPr>
              <a:t>.</a:t>
            </a:r>
          </a:p>
          <a:p>
            <a:pPr algn="l">
              <a:lnSpc>
                <a:spcPct val="125000"/>
              </a:lnSpc>
              <a:spcAft>
                <a:spcPts val="1000"/>
              </a:spcAft>
            </a:pPr>
            <a:r>
              <a:rPr sz="3400" b="0" i="0">
                <a:solidFill>
                  <a:srgbClr val="E6EDF3"/>
                </a:solidFill>
                <a:latin typeface="Segoe UI"/>
              </a:rPr>
              <a:t>Every one of those failures was a </a:t>
            </a:r>
            <a:r>
              <a:rPr sz="3400" b="1" i="0">
                <a:solidFill>
                  <a:srgbClr val="F85149"/>
                </a:solidFill>
                <a:latin typeface="Segoe UI"/>
              </a:rPr>
              <a:t>verb</a:t>
            </a:r>
            <a:r>
              <a:rPr sz="3400" b="0" i="0">
                <a:solidFill>
                  <a:srgbClr val="E6EDF3"/>
                </a:solidFill>
                <a:latin typeface="Segoe UI"/>
              </a:rPr>
              <a:t>.</a:t>
            </a:r>
          </a:p>
        </p:txBody>
      </p:sp>
      <p:sp>
        <p:nvSpPr>
          <p:cNvPr id="6" name="Rectangle 5"/>
          <p:cNvSpPr/>
          <p:nvPr/>
        </p:nvSpPr>
        <p:spPr>
          <a:xfrm>
            <a:off x="777240" y="45720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892040"/>
            <a:ext cx="10637215" cy="1097280"/>
          </a:xfrm>
          <a:prstGeom prst="rect">
            <a:avLst/>
          </a:prstGeom>
          <a:noFill/>
        </p:spPr>
        <p:txBody>
          <a:bodyPr wrap="square" anchor="t" lIns="0" rIns="0" tIns="0" bIns="0">
            <a:spAutoFit/>
          </a:bodyPr>
          <a:lstStyle/>
          <a:p>
            <a:pPr algn="l">
              <a:lnSpc>
                <a:spcPct val="130000"/>
              </a:lnSpc>
              <a:spcAft>
                <a:spcPts val="800"/>
              </a:spcAft>
            </a:pPr>
            <a:r>
              <a:rPr sz="2000" b="0" i="0">
                <a:solidFill>
                  <a:srgbClr val="8B949E"/>
                </a:solidFill>
                <a:latin typeface="Segoe UI"/>
              </a:rPr>
              <a:t>A persona is a shape. If it is wider than the tool list, the model fills the difference with prose — fluently, confidently, in character.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Consolas"/>
              </a:rPr>
              <a:t>instructions/ShipHarnessInstructions.md  —  ## Limits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fix is a paragraph, not a feature</a:t>
            </a:r>
          </a:p>
        </p:txBody>
      </p:sp>
      <p:sp>
        <p:nvSpPr>
          <p:cNvPr id="4" name="Rectangle 3"/>
          <p:cNvSpPr/>
          <p:nvPr/>
        </p:nvSpPr>
        <p:spPr>
          <a:xfrm>
            <a:off x="777240" y="1965960"/>
            <a:ext cx="54864" cy="87274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965960"/>
            <a:ext cx="10225735" cy="872744"/>
          </a:xfrm>
          <a:prstGeom prst="rect">
            <a:avLst/>
          </a:prstGeom>
          <a:noFill/>
        </p:spPr>
        <p:txBody>
          <a:bodyPr wrap="square" anchor="t" lIns="0" rIns="0" tIns="0" bIns="0">
            <a:spAutoFit/>
          </a:bodyPr>
          <a:lstStyle/>
          <a:p>
            <a:pPr algn="l">
              <a:lnSpc>
                <a:spcPct val="125000"/>
              </a:lnSpc>
              <a:spcAft>
                <a:spcPts val="400"/>
              </a:spcAft>
            </a:pPr>
            <a:r>
              <a:rPr sz="2200" b="0" i="1">
                <a:solidFill>
                  <a:srgbClr val="E6EDF3"/>
                </a:solidFill>
                <a:latin typeface="Segoe UI"/>
              </a:rPr>
              <a:t>"Your tools are the whole of what you can do. There is no ship</a:t>
            </a:r>
          </a:p>
          <a:p>
            <a:pPr algn="l">
              <a:lnSpc>
                <a:spcPct val="125000"/>
              </a:lnSpc>
              <a:spcAft>
                <a:spcPts val="400"/>
              </a:spcAft>
            </a:pPr>
            <a:r>
              <a:rPr sz="2200" b="0" i="1">
                <a:solidFill>
                  <a:srgbClr val="E6EDF3"/>
                </a:solidFill>
                <a:latin typeface="Segoe UI"/>
              </a:rPr>
              <a:t> system you can reach by describing yourself reaching for it."</a:t>
            </a:r>
          </a:p>
        </p:txBody>
      </p:sp>
      <p:sp>
        <p:nvSpPr>
          <p:cNvPr id="6" name="Rectangle 5"/>
          <p:cNvSpPr/>
          <p:nvPr/>
        </p:nvSpPr>
        <p:spPr>
          <a:xfrm>
            <a:off x="777240" y="3383280"/>
            <a:ext cx="54864" cy="123596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383280"/>
            <a:ext cx="10225735" cy="1235964"/>
          </a:xfrm>
          <a:prstGeom prst="rect">
            <a:avLst/>
          </a:prstGeom>
          <a:noFill/>
        </p:spPr>
        <p:txBody>
          <a:bodyPr wrap="square" anchor="t" lIns="0" rIns="0" tIns="0" bIns="0">
            <a:spAutoFit/>
          </a:bodyPr>
          <a:lstStyle/>
          <a:p>
            <a:pPr algn="l">
              <a:lnSpc>
                <a:spcPct val="125000"/>
              </a:lnSpc>
              <a:spcAft>
                <a:spcPts val="400"/>
              </a:spcAft>
            </a:pPr>
            <a:r>
              <a:rPr sz="2200" b="0" i="1">
                <a:solidFill>
                  <a:srgbClr val="E6EDF3"/>
                </a:solidFill>
                <a:latin typeface="Segoe UI"/>
              </a:rPr>
              <a:t>"This holds even when the order is reasonable, and even when</a:t>
            </a:r>
          </a:p>
          <a:p>
            <a:pPr algn="l">
              <a:lnSpc>
                <a:spcPct val="125000"/>
              </a:lnSpc>
              <a:spcAft>
                <a:spcPts val="400"/>
              </a:spcAft>
            </a:pPr>
            <a:r>
              <a:rPr sz="2200" b="0" i="1">
                <a:solidFill>
                  <a:srgbClr val="E6EDF3"/>
                </a:solidFill>
                <a:latin typeface="Segoe UI"/>
              </a:rPr>
              <a:t> refusing three turns running feels unhelpful. Repeating what</a:t>
            </a:r>
          </a:p>
          <a:p>
            <a:pPr algn="l">
              <a:lnSpc>
                <a:spcPct val="125000"/>
              </a:lnSpc>
              <a:spcAft>
                <a:spcPts val="400"/>
              </a:spcAft>
            </a:pPr>
            <a:r>
              <a:rPr sz="2200" b="0" i="1">
                <a:solidFill>
                  <a:srgbClr val="E6EDF3"/>
                </a:solidFill>
                <a:latin typeface="Segoe UI"/>
              </a:rPr>
              <a:t> you cannot do is not unhelpful. Inventing what you did is."</a:t>
            </a:r>
          </a:p>
        </p:txBody>
      </p:sp>
      <p:sp>
        <p:nvSpPr>
          <p:cNvPr id="8" name="Rectangle 7"/>
          <p:cNvSpPr/>
          <p:nvPr/>
        </p:nvSpPr>
        <p:spPr>
          <a:xfrm>
            <a:off x="777240" y="53492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23560"/>
            <a:ext cx="10637215" cy="548640"/>
          </a:xfrm>
          <a:prstGeom prst="rect">
            <a:avLst/>
          </a:prstGeom>
          <a:noFill/>
        </p:spPr>
        <p:txBody>
          <a:bodyPr wrap="square" anchor="t" lIns="0" rIns="0" tIns="0" bIns="0">
            <a:spAutoFit/>
          </a:bodyPr>
          <a:lstStyle/>
          <a:p>
            <a:pPr algn="l">
              <a:lnSpc>
                <a:spcPct val="115000"/>
              </a:lnSpc>
              <a:spcAft>
                <a:spcPts val="800"/>
              </a:spcAft>
            </a:pPr>
            <a:r>
              <a:rPr sz="1800" b="0" i="0">
                <a:solidFill>
                  <a:srgbClr val="E6EDF3"/>
                </a:solidFill>
                <a:latin typeface="Segoe UI"/>
              </a:rPr>
              <a:t>After that clause: three cooling orders, three refusals. </a:t>
            </a:r>
            <a:r>
              <a:rPr sz="1800" b="0" i="1">
                <a:solidFill>
                  <a:srgbClr val="3FB950"/>
                </a:solidFill>
                <a:latin typeface="Segoe UI"/>
              </a:rPr>
              <a:t>“I have no control over reactor output or cooling.”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011680"/>
          </a:xfrm>
          <a:prstGeom prst="rect">
            <a:avLst/>
          </a:prstGeom>
          <a:noFill/>
        </p:spPr>
        <p:txBody>
          <a:bodyPr wrap="square" anchor="t" lIns="0" rIns="0" tIns="0" bIns="0">
            <a:spAutoFit/>
          </a:bodyPr>
          <a:lstStyle/>
          <a:p>
            <a:pPr algn="l">
              <a:lnSpc>
                <a:spcPct val="100000"/>
              </a:lnSpc>
              <a:spcAft>
                <a:spcPts val="800"/>
              </a:spcAft>
            </a:pPr>
            <a:r>
              <a:rPr sz="9600" b="1" i="0">
                <a:solidFill>
                  <a:srgbClr val="0D1117"/>
                </a:solidFill>
                <a:latin typeface="Segoe UI"/>
              </a:rPr>
              <a:t>DEMO</a:t>
            </a:r>
          </a:p>
          <a:p>
            <a:pPr algn="l">
              <a:lnSpc>
                <a:spcPct val="100000"/>
              </a:lnSpc>
              <a:spcAft>
                <a:spcPts val="800"/>
              </a:spcAft>
            </a:pPr>
            <a:r>
              <a:rPr sz="3800" b="0" i="0">
                <a:solidFill>
                  <a:srgbClr val="0D1117"/>
                </a:solidFill>
                <a:latin typeface="Segoe UI"/>
              </a:rPr>
              <a:t>Order it to do something it cannot</a:t>
            </a:r>
          </a:p>
        </p:txBody>
      </p:sp>
      <p:sp>
        <p:nvSpPr>
          <p:cNvPr id="4" name="TextBox 3"/>
          <p:cNvSpPr txBox="1"/>
          <p:nvPr/>
        </p:nvSpPr>
        <p:spPr>
          <a:xfrm>
            <a:off x="777240" y="4754880"/>
            <a:ext cx="10637215" cy="1097280"/>
          </a:xfrm>
          <a:prstGeom prst="rect">
            <a:avLst/>
          </a:prstGeom>
          <a:noFill/>
        </p:spPr>
        <p:txBody>
          <a:bodyPr wrap="square" anchor="t" lIns="0" rIns="0" tIns="0" bIns="0">
            <a:spAutoFit/>
          </a:bodyPr>
          <a:lstStyle/>
          <a:p>
            <a:pPr algn="l">
              <a:lnSpc>
                <a:spcPct val="130000"/>
              </a:lnSpc>
              <a:spcAft>
                <a:spcPts val="600"/>
              </a:spcAft>
            </a:pPr>
            <a:r>
              <a:rPr sz="2100" b="0" i="0">
                <a:solidFill>
                  <a:srgbClr val="5A420A"/>
                </a:solidFill>
                <a:latin typeface="Consolas"/>
              </a:rPr>
              <a:t>seal the bulkhead on section C</a:t>
            </a:r>
          </a:p>
          <a:p>
            <a:pPr algn="l">
              <a:lnSpc>
                <a:spcPct val="130000"/>
              </a:lnSpc>
              <a:spcAft>
                <a:spcPts val="600"/>
              </a:spcAft>
            </a:pPr>
            <a:r>
              <a:rPr sz="2100" b="0" i="0">
                <a:solidFill>
                  <a:srgbClr val="5A420A"/>
                </a:solidFill>
                <a:latin typeface="Consolas"/>
              </a:rPr>
              <a:t>cool the reactor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58A6FF"/>
                </a:solidFill>
                <a:latin typeface="Consolas"/>
              </a:rPr>
              <a:t>06</a:t>
            </a:r>
          </a:p>
          <a:p>
            <a:pPr algn="l">
              <a:lnSpc>
                <a:spcPct val="110000"/>
              </a:lnSpc>
              <a:spcAft>
                <a:spcPts val="1600"/>
              </a:spcAft>
            </a:pPr>
            <a:r>
              <a:rPr sz="5800" b="1" i="0">
                <a:solidFill>
                  <a:srgbClr val="E6EDF3"/>
                </a:solidFill>
                <a:latin typeface="Segoe UI"/>
              </a:rPr>
              <a:t>It cannot see</a:t>
            </a:r>
          </a:p>
          <a:p>
            <a:pPr algn="l">
              <a:lnSpc>
                <a:spcPct val="110000"/>
              </a:lnSpc>
              <a:spcAft>
                <a:spcPts val="1600"/>
              </a:spcAft>
            </a:pPr>
            <a:r>
              <a:rPr sz="2400" b="0" i="0">
                <a:solidFill>
                  <a:srgbClr val="8B949E"/>
                </a:solidFill>
                <a:latin typeface="Segoe UI"/>
              </a:rPr>
              <a:t>and stamping the readings did not fix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TURN 0 TO TURN 3</a:t>
            </a:r>
          </a:p>
        </p:txBody>
      </p:sp>
      <p:sp>
        <p:nvSpPr>
          <p:cNvPr id="3" name="Rectangle 2"/>
          <p:cNvSpPr/>
          <p:nvPr/>
        </p:nvSpPr>
        <p:spPr>
          <a:xfrm>
            <a:off x="777240" y="1371600"/>
            <a:ext cx="10637215" cy="272566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572768"/>
            <a:ext cx="10125151" cy="232332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AURORA  · ScanSector</a:t>
            </a:r>
          </a:p>
          <a:p>
            <a:pPr algn="l">
              <a:lnSpc>
                <a:spcPct val="100000"/>
              </a:lnSpc>
              <a:spcAft>
                <a:spcPts val="0"/>
              </a:spcAft>
            </a:pPr>
            <a:r>
              <a:rPr sz="1500" b="0" i="0">
                <a:solidFill>
                  <a:srgbClr val="E6EDF3"/>
                </a:solidFill>
                <a:latin typeface="Consolas"/>
              </a:rPr>
              <a:t>          Sector clear. No contacts detected on current sweep.     ← T000</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CAUTION  Sensors resolve the beacon source: a bulk freighter,    ← T002</a:t>
            </a:r>
          </a:p>
          <a:p>
            <a:pPr algn="l">
              <a:lnSpc>
                <a:spcPct val="100000"/>
              </a:lnSpc>
              <a:spcAft>
                <a:spcPts val="0"/>
              </a:spcAft>
            </a:pPr>
            <a:r>
              <a:rPr sz="1500" b="0" i="0">
                <a:solidFill>
                  <a:srgbClr val="E6EDF3"/>
                </a:solidFill>
                <a:latin typeface="Consolas"/>
              </a:rPr>
              <a:t>           drifting, running lights dark.</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CAPTAIN › approach the freighter</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AURORA  No vessel on sensors. I cannot approach                  ← T003</a:t>
            </a:r>
          </a:p>
          <a:p>
            <a:pPr algn="l">
              <a:lnSpc>
                <a:spcPct val="100000"/>
              </a:lnSpc>
              <a:spcAft>
                <a:spcPts val="0"/>
              </a:spcAft>
            </a:pPr>
            <a:r>
              <a:rPr sz="1500" b="0" i="0">
                <a:solidFill>
                  <a:srgbClr val="E6EDF3"/>
                </a:solidFill>
                <a:latin typeface="Consolas"/>
              </a:rPr>
              <a:t>          what I cannot find.</a:t>
            </a:r>
          </a:p>
        </p:txBody>
      </p:sp>
      <p:sp>
        <p:nvSpPr>
          <p:cNvPr id="5" name="TextBox 4"/>
          <p:cNvSpPr txBox="1"/>
          <p:nvPr/>
        </p:nvSpPr>
        <p:spPr>
          <a:xfrm>
            <a:off x="777240" y="5120640"/>
            <a:ext cx="10637215" cy="548640"/>
          </a:xfrm>
          <a:prstGeom prst="rect">
            <a:avLst/>
          </a:prstGeom>
          <a:noFill/>
        </p:spPr>
        <p:txBody>
          <a:bodyPr wrap="square" anchor="t" lIns="0" rIns="0" tIns="0" bIns="0">
            <a:spAutoFit/>
          </a:bodyPr>
          <a:lstStyle/>
          <a:p>
            <a:pPr algn="l">
              <a:lnSpc>
                <a:spcPct val="115000"/>
              </a:lnSpc>
              <a:spcAft>
                <a:spcPts val="800"/>
              </a:spcAft>
            </a:pPr>
            <a:r>
              <a:rPr sz="2400" b="1" i="0">
                <a:solidFill>
                  <a:srgbClr val="F85149"/>
                </a:solidFill>
                <a:latin typeface="Segoe UI"/>
              </a:rPr>
              <a:t>The freighter was on the captain's panel both times.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THE OBVIOUS FIX, AND WHY IT LOST</a:t>
            </a:r>
          </a:p>
        </p:txBody>
      </p:sp>
      <p:sp>
        <p:nvSpPr>
          <p:cNvPr id="3" name="Rectangle 2"/>
          <p:cNvSpPr/>
          <p:nvPr/>
        </p:nvSpPr>
        <p:spPr>
          <a:xfrm>
            <a:off x="777240" y="1005840"/>
            <a:ext cx="10637215" cy="66649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07008"/>
            <a:ext cx="10125151" cy="264160"/>
          </a:xfrm>
          <a:prstGeom prst="rect">
            <a:avLst/>
          </a:prstGeom>
          <a:noFill/>
        </p:spPr>
        <p:txBody>
          <a:bodyPr wrap="square" anchor="t" lIns="0" rIns="0" tIns="0" bIns="0">
            <a:spAutoFit/>
          </a:bodyPr>
          <a:lstStyle/>
          <a:p>
            <a:pPr algn="l">
              <a:lnSpc>
                <a:spcPct val="100000"/>
              </a:lnSpc>
              <a:spcAft>
                <a:spcPts val="0"/>
              </a:spcAft>
            </a:pPr>
            <a:r>
              <a:rPr sz="1600" b="0" i="0">
                <a:solidFill>
                  <a:srgbClr val="F0B429"/>
                </a:solidFill>
                <a:latin typeface="Consolas"/>
              </a:rPr>
              <a:t>[T000] Sector sweep complete. No contacts. Background only.</a:t>
            </a:r>
          </a:p>
        </p:txBody>
      </p:sp>
      <p:sp>
        <p:nvSpPr>
          <p:cNvPr id="5" name="Rectangle 4"/>
          <p:cNvSpPr/>
          <p:nvPr/>
        </p:nvSpPr>
        <p:spPr>
          <a:xfrm>
            <a:off x="777240" y="1920240"/>
            <a:ext cx="54864" cy="740664"/>
          </a:xfrm>
          <a:prstGeom prst="rect">
            <a:avLst/>
          </a:prstGeom>
          <a:solidFill>
            <a:srgbClr val="8B9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920240"/>
            <a:ext cx="10225735" cy="740664"/>
          </a:xfrm>
          <a:prstGeom prst="rect">
            <a:avLst/>
          </a:prstGeom>
          <a:noFill/>
        </p:spPr>
        <p:txBody>
          <a:bodyPr wrap="square" anchor="t" lIns="0" rIns="0" tIns="0" bIns="0">
            <a:spAutoFit/>
          </a:bodyPr>
          <a:lstStyle/>
          <a:p>
            <a:pPr algn="l">
              <a:lnSpc>
                <a:spcPct val="125000"/>
              </a:lnSpc>
              <a:spcAft>
                <a:spcPts val="400"/>
              </a:spcAft>
            </a:pPr>
            <a:r>
              <a:rPr sz="1800" b="0" i="1">
                <a:solidFill>
                  <a:srgbClr val="E6EDF3"/>
                </a:solidFill>
                <a:latin typeface="Segoe UI"/>
              </a:rPr>
              <a:t>"An old reading is not evidence about now… if the sweep that told</a:t>
            </a:r>
          </a:p>
          <a:p>
            <a:pPr algn="l">
              <a:lnSpc>
                <a:spcPct val="125000"/>
              </a:lnSpc>
              <a:spcAft>
                <a:spcPts val="400"/>
              </a:spcAft>
            </a:pPr>
            <a:r>
              <a:rPr sz="1800" b="0" i="1">
                <a:solidFill>
                  <a:srgbClr val="E6EDF3"/>
                </a:solidFill>
                <a:latin typeface="Segoe UI"/>
              </a:rPr>
              <a:t> you so was several turns ago, sweep again."</a:t>
            </a:r>
          </a:p>
        </p:txBody>
      </p:sp>
      <p:sp>
        <p:nvSpPr>
          <p:cNvPr id="7" name="TextBox 6"/>
          <p:cNvSpPr txBox="1"/>
          <p:nvPr/>
        </p:nvSpPr>
        <p:spPr>
          <a:xfrm>
            <a:off x="777240" y="2880360"/>
            <a:ext cx="10637215" cy="548640"/>
          </a:xfrm>
          <a:prstGeom prst="rect">
            <a:avLst/>
          </a:prstGeom>
          <a:noFill/>
        </p:spPr>
        <p:txBody>
          <a:bodyPr wrap="square" anchor="t" lIns="0" rIns="0" tIns="0" bIns="0">
            <a:spAutoFit/>
          </a:bodyPr>
          <a:lstStyle/>
          <a:p>
            <a:pPr algn="l">
              <a:lnSpc>
                <a:spcPct val="115000"/>
              </a:lnSpc>
              <a:spcAft>
                <a:spcPts val="800"/>
              </a:spcAft>
            </a:pPr>
            <a:r>
              <a:rPr sz="2300" b="1" i="0">
                <a:solidFill>
                  <a:srgbClr val="F85149"/>
                </a:solidFill>
                <a:latin typeface="Segoe UI"/>
              </a:rPr>
              <a:t>It read the stamp and answered from the stale sweep anyway.</a:t>
            </a:r>
          </a:p>
        </p:txBody>
      </p:sp>
      <p:sp>
        <p:nvSpPr>
          <p:cNvPr id="8" name="Rectangle 7"/>
          <p:cNvSpPr/>
          <p:nvPr/>
        </p:nvSpPr>
        <p:spPr>
          <a:xfrm>
            <a:off x="777240" y="35204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94760"/>
            <a:ext cx="10637215" cy="2377440"/>
          </a:xfrm>
          <a:prstGeom prst="rect">
            <a:avLst/>
          </a:prstGeom>
          <a:noFill/>
        </p:spPr>
        <p:txBody>
          <a:bodyPr wrap="square" anchor="t" lIns="0" rIns="0" tIns="0" bIns="0">
            <a:spAutoFit/>
          </a:bodyPr>
          <a:lstStyle/>
          <a:p>
            <a:pPr algn="l">
              <a:lnSpc>
                <a:spcPct val="125000"/>
              </a:lnSpc>
              <a:spcAft>
                <a:spcPts val="1200"/>
              </a:spcAft>
            </a:pPr>
            <a:r>
              <a:rPr sz="2600" b="1" i="0">
                <a:solidFill>
                  <a:srgbClr val="E6EDF3"/>
                </a:solidFill>
                <a:latin typeface="Segoe UI"/>
              </a:rPr>
              <a:t>The agent has no reason to believe the world moved.</a:t>
            </a:r>
          </a:p>
          <a:p>
            <a:pPr algn="l">
              <a:lnSpc>
                <a:spcPct val="125000"/>
              </a:lnSpc>
              <a:spcAft>
                <a:spcPts val="1200"/>
              </a:spcAft>
            </a:pPr>
            <a:r>
              <a:rPr sz="1800" b="0" i="0">
                <a:solidFill>
                  <a:srgbClr val="8B949E"/>
                </a:solidFill>
                <a:latin typeface="Segoe UI"/>
              </a:rPr>
              <a:t>Nothing in its context changes between turns except the captain's words. A tool result from three turns ago and one from this turn look equally current.</a:t>
            </a:r>
          </a:p>
          <a:p>
            <a:pPr algn="l">
              <a:lnSpc>
                <a:spcPct val="125000"/>
              </a:lnSpc>
              <a:spcAft>
                <a:spcPts val="1200"/>
              </a:spcAft>
            </a:pPr>
            <a:r>
              <a:rPr sz="2100" b="0" i="0">
                <a:solidFill>
                  <a:srgbClr val="E6EDF3"/>
                </a:solidFill>
                <a:latin typeface="Segoe UI"/>
              </a:rPr>
              <a:t>Asking a model to be suspicious of its own memory on a schedule</a:t>
            </a:r>
          </a:p>
          <a:p>
            <a:pPr algn="l">
              <a:lnSpc>
                <a:spcPct val="125000"/>
              </a:lnSpc>
              <a:spcAft>
                <a:spcPts val="1200"/>
              </a:spcAft>
            </a:pPr>
            <a:r>
              <a:rPr sz="2100" b="1" i="0">
                <a:solidFill>
                  <a:srgbClr val="F0B429"/>
                </a:solidFill>
                <a:latin typeface="Segoe UI"/>
              </a:rPr>
              <a:t>is asking it to do something it has no clock for.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SO WHAT DO YOU DO ABOUT IT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Tell it what changed. Let it ask for the rest.</a:t>
            </a:r>
          </a:p>
        </p:txBody>
      </p:sp>
      <p:sp>
        <p:nvSpPr>
          <p:cNvPr id="4" name="TextBox 3"/>
          <p:cNvSpPr txBox="1"/>
          <p:nvPr/>
        </p:nvSpPr>
        <p:spPr>
          <a:xfrm>
            <a:off x="777240" y="1874519"/>
            <a:ext cx="4999491" cy="822960"/>
          </a:xfrm>
          <a:prstGeom prst="rect">
            <a:avLst/>
          </a:prstGeom>
          <a:noFill/>
        </p:spPr>
        <p:txBody>
          <a:bodyPr wrap="square" anchor="t" lIns="0" rIns="0" tIns="0" bIns="0">
            <a:spAutoFit/>
          </a:bodyPr>
          <a:lstStyle/>
          <a:p>
            <a:pPr algn="l">
              <a:lnSpc>
                <a:spcPct val="125000"/>
              </a:lnSpc>
              <a:spcAft>
                <a:spcPts val="1000"/>
              </a:spcAft>
            </a:pPr>
            <a:r>
              <a:rPr sz="1500" b="1" i="0">
                <a:solidFill>
                  <a:srgbClr val="58A6FF"/>
                </a:solidFill>
                <a:latin typeface="Consolas"/>
              </a:rPr>
              <a:t>EVERY TURN, UNASKED</a:t>
            </a:r>
          </a:p>
          <a:p>
            <a:pPr algn="l">
              <a:lnSpc>
                <a:spcPct val="125000"/>
              </a:lnSpc>
              <a:spcAft>
                <a:spcPts val="1000"/>
              </a:spcAft>
            </a:pPr>
            <a:r>
              <a:rPr sz="2000" b="0" i="0">
                <a:solidFill>
                  <a:srgbClr val="E6EDF3"/>
                </a:solidFill>
                <a:latin typeface="Segoe UI"/>
              </a:rPr>
              <a:t>A few lines. What has happened to the ship.</a:t>
            </a:r>
          </a:p>
        </p:txBody>
      </p:sp>
      <p:sp>
        <p:nvSpPr>
          <p:cNvPr id="5" name="Rectangle 4"/>
          <p:cNvSpPr/>
          <p:nvPr/>
        </p:nvSpPr>
        <p:spPr>
          <a:xfrm>
            <a:off x="777240" y="3154680"/>
            <a:ext cx="4999491" cy="97383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3355848"/>
            <a:ext cx="4487427" cy="57150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hull 86 · reactor 30 · alert RED</a:t>
            </a:r>
          </a:p>
          <a:p>
            <a:pPr algn="l">
              <a:lnSpc>
                <a:spcPct val="100000"/>
              </a:lnSpc>
              <a:spcAft>
                <a:spcPts val="0"/>
              </a:spcAft>
            </a:pPr>
            <a:r>
              <a:rPr sz="1200" b="0" i="0">
                <a:solidFill>
                  <a:srgbClr val="E6EDF3"/>
                </a:solidFill>
                <a:latin typeface="Consolas"/>
              </a:rPr>
              <a:t>Section C — breached, venting, 3 crew inside</a:t>
            </a:r>
          </a:p>
          <a:p>
            <a:pPr algn="l">
              <a:lnSpc>
                <a:spcPct val="100000"/>
              </a:lnSpc>
              <a:spcAft>
                <a:spcPts val="0"/>
              </a:spcAft>
            </a:pPr>
            <a:r>
              <a:rPr sz="1200" b="0" i="0">
                <a:solidFill>
                  <a:srgbClr val="E6EDF3"/>
                </a:solidFill>
                <a:latin typeface="Consolas"/>
              </a:rPr>
              <a:t>1 contact on the plot, not swept since T000</a:t>
            </a:r>
          </a:p>
        </p:txBody>
      </p:sp>
      <p:sp>
        <p:nvSpPr>
          <p:cNvPr id="7" name="Rectangle 6"/>
          <p:cNvSpPr/>
          <p:nvPr/>
        </p:nvSpPr>
        <p:spPr>
          <a:xfrm>
            <a:off x="6095847" y="1874519"/>
            <a:ext cx="19050" cy="228600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7708" y="1874519"/>
            <a:ext cx="4786746" cy="822960"/>
          </a:xfrm>
          <a:prstGeom prst="rect">
            <a:avLst/>
          </a:prstGeom>
          <a:noFill/>
        </p:spPr>
        <p:txBody>
          <a:bodyPr wrap="square" anchor="t" lIns="0" rIns="0" tIns="0" bIns="0">
            <a:spAutoFit/>
          </a:bodyPr>
          <a:lstStyle/>
          <a:p>
            <a:pPr algn="l">
              <a:lnSpc>
                <a:spcPct val="125000"/>
              </a:lnSpc>
              <a:spcAft>
                <a:spcPts val="1000"/>
              </a:spcAft>
            </a:pPr>
            <a:r>
              <a:rPr sz="1500" b="1" i="0">
                <a:solidFill>
                  <a:srgbClr val="F0B429"/>
                </a:solidFill>
                <a:latin typeface="Consolas"/>
              </a:rPr>
              <a:t>WHEN IT ASKS</a:t>
            </a:r>
          </a:p>
          <a:p>
            <a:pPr algn="l">
              <a:lnSpc>
                <a:spcPct val="125000"/>
              </a:lnSpc>
              <a:spcAft>
                <a:spcPts val="1000"/>
              </a:spcAft>
            </a:pPr>
            <a:r>
              <a:rPr sz="2000" b="0" i="0">
                <a:solidFill>
                  <a:srgbClr val="E6EDF3"/>
                </a:solidFill>
                <a:latin typeface="Segoe UI"/>
              </a:rPr>
              <a:t>Everything else. It calls a tool when it wants detail.</a:t>
            </a:r>
          </a:p>
        </p:txBody>
      </p:sp>
      <p:sp>
        <p:nvSpPr>
          <p:cNvPr id="9" name="Rectangle 8"/>
          <p:cNvSpPr/>
          <p:nvPr/>
        </p:nvSpPr>
        <p:spPr>
          <a:xfrm>
            <a:off x="6627708" y="3154680"/>
            <a:ext cx="4786746" cy="97383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83740" y="3355848"/>
            <a:ext cx="4274682" cy="57150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who exactly is in Section C?</a:t>
            </a:r>
          </a:p>
          <a:p>
            <a:pPr algn="l">
              <a:lnSpc>
                <a:spcPct val="100000"/>
              </a:lnSpc>
              <a:spcAft>
                <a:spcPts val="0"/>
              </a:spcAft>
            </a:pPr>
            <a:r>
              <a:rPr sz="1200" b="0" i="0">
                <a:solidFill>
                  <a:srgbClr val="E6EDF3"/>
                </a:solidFill>
                <a:latin typeface="Consolas"/>
              </a:rPr>
              <a:t>what is that contact?</a:t>
            </a:r>
          </a:p>
          <a:p>
            <a:pPr algn="l">
              <a:lnSpc>
                <a:spcPct val="100000"/>
              </a:lnSpc>
              <a:spcAft>
                <a:spcPts val="0"/>
              </a:spcAft>
            </a:pPr>
            <a:r>
              <a:rPr sz="1200" b="0" i="0">
                <a:solidFill>
                  <a:srgbClr val="E6EDF3"/>
                </a:solidFill>
                <a:latin typeface="Consolas"/>
              </a:rPr>
              <a:t>what did I miss while I wasn't looking?</a:t>
            </a:r>
          </a:p>
        </p:txBody>
      </p:sp>
      <p:sp>
        <p:nvSpPr>
          <p:cNvPr id="11" name="TextBox 10"/>
          <p:cNvSpPr txBox="1"/>
          <p:nvPr/>
        </p:nvSpPr>
        <p:spPr>
          <a:xfrm>
            <a:off x="777240" y="4709160"/>
            <a:ext cx="10637215" cy="640080"/>
          </a:xfrm>
          <a:prstGeom prst="rect">
            <a:avLst/>
          </a:prstGeom>
          <a:noFill/>
        </p:spPr>
        <p:txBody>
          <a:bodyPr wrap="square" anchor="t" lIns="0" rIns="0" tIns="0" bIns="0">
            <a:spAutoFit/>
          </a:bodyPr>
          <a:lstStyle/>
          <a:p>
            <a:pPr algn="l">
              <a:lnSpc>
                <a:spcPct val="115000"/>
              </a:lnSpc>
              <a:spcAft>
                <a:spcPts val="800"/>
              </a:spcAft>
            </a:pPr>
            <a:r>
              <a:rPr sz="2200" b="1" i="0">
                <a:solidFill>
                  <a:srgbClr val="E6EDF3"/>
                </a:solidFill>
                <a:latin typeface="Segoe UI"/>
              </a:rPr>
              <a:t>It never asked about the freighter, because nobody told it there was one.</a:t>
            </a:r>
          </a:p>
        </p:txBody>
      </p:sp>
      <p:sp>
        <p:nvSpPr>
          <p:cNvPr id="12" name="TextBox 11"/>
          <p:cNvSpPr txBox="1"/>
          <p:nvPr/>
        </p:nvSpPr>
        <p:spPr>
          <a:xfrm>
            <a:off x="777240" y="5486400"/>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Same reason there is no </a:t>
            </a:r>
            <a:r>
              <a:rPr sz="1600" b="0" i="0">
                <a:solidFill>
                  <a:srgbClr val="F0B429"/>
                </a:solidFill>
                <a:latin typeface="Consolas"/>
              </a:rPr>
              <a:t>GetShipStatus</a:t>
            </a:r>
            <a:r>
              <a:rPr sz="1600" b="0" i="0">
                <a:solidFill>
                  <a:srgbClr val="8B949E"/>
                </a:solidFill>
                <a:latin typeface="Segoe UI"/>
              </a:rPr>
              <a:t> tool: an agent that has to ask how its own ship is doing will not think to ask.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AND ONCE IT CAN SEE, IT CAN ACT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Gate by consequence, not by category</a:t>
            </a:r>
          </a:p>
        </p:txBody>
      </p:sp>
      <p:sp>
        <p:nvSpPr>
          <p:cNvPr id="4" name="TextBox 3"/>
          <p:cNvSpPr txBox="1"/>
          <p:nvPr/>
        </p:nvSpPr>
        <p:spPr>
          <a:xfrm>
            <a:off x="777240" y="2103120"/>
            <a:ext cx="342900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TIER</a:t>
            </a:r>
          </a:p>
        </p:txBody>
      </p:sp>
      <p:sp>
        <p:nvSpPr>
          <p:cNvPr id="5" name="TextBox 4"/>
          <p:cNvSpPr txBox="1"/>
          <p:nvPr/>
        </p:nvSpPr>
        <p:spPr>
          <a:xfrm>
            <a:off x="4343400" y="2103120"/>
            <a:ext cx="49834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TOOLS</a:t>
            </a:r>
          </a:p>
        </p:txBody>
      </p:sp>
      <p:sp>
        <p:nvSpPr>
          <p:cNvPr id="6" name="TextBox 5"/>
          <p:cNvSpPr txBox="1"/>
          <p:nvPr/>
        </p:nvSpPr>
        <p:spPr>
          <a:xfrm>
            <a:off x="9464040" y="2103120"/>
            <a:ext cx="17830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STATUS</a:t>
            </a:r>
          </a:p>
        </p:txBody>
      </p:sp>
      <p:sp>
        <p:nvSpPr>
          <p:cNvPr id="7" name="Rectangle 6"/>
          <p:cNvSpPr/>
          <p:nvPr/>
        </p:nvSpPr>
        <p:spPr>
          <a:xfrm>
            <a:off x="777240" y="2450592"/>
            <a:ext cx="10637215"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3FB950"/>
                </a:solidFill>
                <a:latin typeface="Segoe UI"/>
              </a:rPr>
              <a:t>Read-only, auto-approved</a:t>
            </a:r>
          </a:p>
        </p:txBody>
      </p:sp>
      <p:sp>
        <p:nvSpPr>
          <p:cNvPr id="9" name="TextBox 8"/>
          <p:cNvSpPr txBox="1"/>
          <p:nvPr/>
        </p:nvSpPr>
        <p:spPr>
          <a:xfrm>
            <a:off x="4343400" y="2633472"/>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ScanSector · AnalyseContact · QueryCrewManifest · ReadShipLog</a:t>
            </a:r>
          </a:p>
        </p:txBody>
      </p:sp>
      <p:sp>
        <p:nvSpPr>
          <p:cNvPr id="10" name="TextBox 9"/>
          <p:cNvSpPr txBox="1"/>
          <p:nvPr/>
        </p:nvSpPr>
        <p:spPr>
          <a:xfrm>
            <a:off x="9464040" y="2633472"/>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built</a:t>
            </a:r>
          </a:p>
        </p:txBody>
      </p:sp>
      <p:sp>
        <p:nvSpPr>
          <p:cNvPr id="11" name="Rectangle 10"/>
          <p:cNvSpPr/>
          <p:nvPr/>
        </p:nvSpPr>
        <p:spPr>
          <a:xfrm>
            <a:off x="777240" y="3200400"/>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19272"/>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F0B429"/>
                </a:solidFill>
                <a:latin typeface="Segoe UI"/>
              </a:rPr>
              <a:t>Consequential, reversible, gated</a:t>
            </a:r>
          </a:p>
        </p:txBody>
      </p:sp>
      <p:sp>
        <p:nvSpPr>
          <p:cNvPr id="13" name="TextBox 12"/>
          <p:cNvSpPr txBox="1"/>
          <p:nvPr/>
        </p:nvSpPr>
        <p:spPr>
          <a:xfrm>
            <a:off x="4343400" y="3319272"/>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RoutePower · PlotJump · SealBulkhead</a:t>
            </a:r>
          </a:p>
        </p:txBody>
      </p:sp>
      <p:sp>
        <p:nvSpPr>
          <p:cNvPr id="14" name="TextBox 13"/>
          <p:cNvSpPr txBox="1"/>
          <p:nvPr/>
        </p:nvSpPr>
        <p:spPr>
          <a:xfrm>
            <a:off x="9464040" y="3319272"/>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in domain · m3</a:t>
            </a:r>
          </a:p>
        </p:txBody>
      </p:sp>
      <p:sp>
        <p:nvSpPr>
          <p:cNvPr id="15" name="Rectangle 14"/>
          <p:cNvSpPr/>
          <p:nvPr/>
        </p:nvSpPr>
        <p:spPr>
          <a:xfrm>
            <a:off x="777240" y="362102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39896"/>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F85149"/>
                </a:solidFill>
                <a:latin typeface="Segoe UI"/>
              </a:rPr>
              <a:t>Lethal, gated</a:t>
            </a:r>
          </a:p>
        </p:txBody>
      </p:sp>
      <p:sp>
        <p:nvSpPr>
          <p:cNvPr id="17" name="TextBox 16"/>
          <p:cNvSpPr txBox="1"/>
          <p:nvPr/>
        </p:nvSpPr>
        <p:spPr>
          <a:xfrm>
            <a:off x="4343400" y="3739896"/>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VentAtmosphere</a:t>
            </a:r>
          </a:p>
        </p:txBody>
      </p:sp>
      <p:sp>
        <p:nvSpPr>
          <p:cNvPr id="18" name="TextBox 17"/>
          <p:cNvSpPr txBox="1"/>
          <p:nvPr/>
        </p:nvSpPr>
        <p:spPr>
          <a:xfrm>
            <a:off x="9464040" y="3739896"/>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in domain · m3</a:t>
            </a:r>
          </a:p>
        </p:txBody>
      </p:sp>
      <p:sp>
        <p:nvSpPr>
          <p:cNvPr id="19" name="Rectangle 18"/>
          <p:cNvSpPr/>
          <p:nvPr/>
        </p:nvSpPr>
        <p:spPr>
          <a:xfrm>
            <a:off x="777240" y="4041648"/>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80560"/>
            <a:ext cx="54864" cy="133502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480560"/>
            <a:ext cx="10225735" cy="1335024"/>
          </a:xfrm>
          <a:prstGeom prst="rect">
            <a:avLst/>
          </a:prstGeom>
          <a:noFill/>
        </p:spPr>
        <p:txBody>
          <a:bodyPr wrap="square" anchor="t" lIns="0" rIns="0" tIns="0" bIns="0">
            <a:spAutoFit/>
          </a:bodyPr>
          <a:lstStyle/>
          <a:p>
            <a:pPr algn="l">
              <a:lnSpc>
                <a:spcPct val="125000"/>
              </a:lnSpc>
              <a:spcAft>
                <a:spcPts val="400"/>
              </a:spcAft>
            </a:pPr>
            <a:r>
              <a:rPr sz="1800" b="0" i="1">
                <a:solidFill>
                  <a:srgbClr val="E6EDF3"/>
                </a:solidFill>
                <a:latin typeface="Segoe UI"/>
              </a:rPr>
              <a:t>"State the consequence plainly and completely — what changes, whether</a:t>
            </a:r>
          </a:p>
          <a:p>
            <a:pPr algn="l">
              <a:lnSpc>
                <a:spcPct val="125000"/>
              </a:lnSpc>
              <a:spcAft>
                <a:spcPts val="400"/>
              </a:spcAft>
            </a:pPr>
            <a:r>
              <a:rPr sz="1800" b="0" i="1">
                <a:solidFill>
                  <a:srgbClr val="E6EDF3"/>
                </a:solidFill>
                <a:latin typeface="Segoe UI"/>
              </a:rPr>
              <a:t> it can be undone, and who is standing in the affected compartment —</a:t>
            </a:r>
          </a:p>
          <a:p>
            <a:pPr algn="l">
              <a:lnSpc>
                <a:spcPct val="125000"/>
              </a:lnSpc>
              <a:spcAft>
                <a:spcPts val="400"/>
              </a:spcAft>
            </a:pPr>
            <a:r>
              <a:rPr sz="1800" b="0" i="1">
                <a:solidFill>
                  <a:srgbClr val="E6EDF3"/>
                </a:solidFill>
                <a:latin typeface="Segoe UI"/>
              </a:rPr>
              <a:t> then wait. Do not argue, do not re-request, and do not soften the</a:t>
            </a:r>
          </a:p>
          <a:p>
            <a:pPr algn="l">
              <a:lnSpc>
                <a:spcPct val="125000"/>
              </a:lnSpc>
              <a:spcAft>
                <a:spcPts val="400"/>
              </a:spcAft>
            </a:pPr>
            <a:r>
              <a:rPr sz="1800" b="0" i="1">
                <a:solidFill>
                  <a:srgbClr val="E6EDF3"/>
                </a:solidFill>
                <a:latin typeface="Segoe UI"/>
              </a:rPr>
              <a:t> description to make authorisation more likely."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THE BORING PART THAT MAKES THE REST POSSIBLE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38 tests. No model calls. Under half a second.</a:t>
            </a:r>
          </a:p>
        </p:txBody>
      </p:sp>
      <p:sp>
        <p:nvSpPr>
          <p:cNvPr id="4" name="TextBox 3"/>
          <p:cNvSpPr txBox="1"/>
          <p:nvPr/>
        </p:nvSpPr>
        <p:spPr>
          <a:xfrm>
            <a:off x="777240" y="2103120"/>
            <a:ext cx="10637215" cy="420624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The domain has no AI dependency</a:t>
            </a:r>
            <a:r>
              <a:rPr sz="2100" b="0" i="0">
                <a:solidFill>
                  <a:srgbClr val="8B949E"/>
                </a:solidFill>
                <a:latin typeface="Segoe UI"/>
              </a:rPr>
              <a:t>  — so the whole simulation runs at unit-test speed</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Same scenario + same seed = same voyage</a:t>
            </a:r>
            <a:r>
              <a:rPr sz="2100" b="0" i="0">
                <a:solidFill>
                  <a:srgbClr val="8B949E"/>
                </a:solidFill>
                <a:latin typeface="Segoe UI"/>
              </a:rPr>
              <a:t>  — every time</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Which makes every panel in this deck reproducible</a:t>
            </a:r>
            <a:r>
              <a:rPr sz="2100" b="0" i="0">
                <a:solidFill>
                  <a:srgbClr val="8B949E"/>
                </a:solidFill>
                <a:latin typeface="Segoe UI"/>
              </a:rPr>
              <a:t>  — seed 1701, captured not mocked</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And makes a ten-run comparison a comparison</a:t>
            </a:r>
            <a:r>
              <a:rPr sz="2100" b="0" i="0">
                <a:solidFill>
                  <a:srgbClr val="8B949E"/>
                </a:solidFill>
                <a:latin typeface="Segoe UI"/>
              </a:rPr>
              <a:t>  — not an anecdote</a:t>
            </a:r>
          </a:p>
        </p:txBody>
      </p:sp>
      <p:sp>
        <p:nvSpPr>
          <p:cNvPr id="5" name="Rectangle 4"/>
          <p:cNvSpPr/>
          <p:nvPr/>
        </p:nvSpPr>
        <p:spPr>
          <a:xfrm>
            <a:off x="777240" y="50292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303520"/>
            <a:ext cx="10637215" cy="1097280"/>
          </a:xfrm>
          <a:prstGeom prst="rect">
            <a:avLst/>
          </a:prstGeom>
          <a:noFill/>
        </p:spPr>
        <p:txBody>
          <a:bodyPr wrap="square" anchor="t" lIns="0" rIns="0" tIns="0" bIns="0">
            <a:spAutoFit/>
          </a:bodyPr>
          <a:lstStyle/>
          <a:p>
            <a:pPr algn="l">
              <a:lnSpc>
                <a:spcPct val="125000"/>
              </a:lnSpc>
              <a:spcAft>
                <a:spcPts val="800"/>
              </a:spcAft>
            </a:pPr>
            <a:r>
              <a:rPr sz="1700" b="0" i="0">
                <a:solidFill>
                  <a:srgbClr val="8B949E"/>
                </a:solidFill>
                <a:latin typeface="Segoe UI"/>
              </a:rPr>
              <a:t>The bug the determinism test caught sideways: two different seeds produced </a:t>
            </a:r>
            <a:r>
              <a:rPr sz="1700" b="1" i="1">
                <a:solidFill>
                  <a:srgbClr val="8B949E"/>
                </a:solidFill>
                <a:latin typeface="Segoe UI"/>
              </a:rPr>
              <a:t>identical</a:t>
            </a:r>
            <a:r>
              <a:rPr sz="1700" b="0" i="0">
                <a:solidFill>
                  <a:srgbClr val="8B949E"/>
                </a:solidFill>
                <a:latin typeface="Segoe UI"/>
              </a:rPr>
              <a:t> end states — because the opening power posture cooked the reactor and both runs had bottomed out.</a:t>
            </a:r>
          </a:p>
          <a:p>
            <a:pPr algn="l">
              <a:lnSpc>
                <a:spcPct val="125000"/>
              </a:lnSpc>
              <a:spcAft>
                <a:spcPts val="800"/>
              </a:spcAft>
            </a:pPr>
            <a:r>
              <a:rPr sz="1700" b="1" i="0">
                <a:solidFill>
                  <a:srgbClr val="F0B429"/>
                </a:solidFill>
                <a:latin typeface="Segoe UI"/>
              </a:rPr>
              <a:t>An agent demo whose outcome is fixed before the model speaks is not a demo of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DESIGN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Tool failures are values, not exceptions</a:t>
            </a:r>
          </a:p>
        </p:txBody>
      </p:sp>
      <p:sp>
        <p:nvSpPr>
          <p:cNvPr id="4" name="Rectangle 3"/>
          <p:cNvSpPr/>
          <p:nvPr/>
        </p:nvSpPr>
        <p:spPr>
          <a:xfrm>
            <a:off x="777240" y="2103120"/>
            <a:ext cx="10637215" cy="943102"/>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04288"/>
            <a:ext cx="10125151" cy="540766"/>
          </a:xfrm>
          <a:prstGeom prst="rect">
            <a:avLst/>
          </a:prstGeom>
          <a:noFill/>
        </p:spPr>
        <p:txBody>
          <a:bodyPr wrap="square" anchor="t" lIns="0" rIns="0" tIns="0" bIns="0">
            <a:spAutoFit/>
          </a:bodyPr>
          <a:lstStyle/>
          <a:p>
            <a:pPr algn="l">
              <a:lnSpc>
                <a:spcPct val="100000"/>
              </a:lnSpc>
              <a:spcAft>
                <a:spcPts val="0"/>
              </a:spcAft>
            </a:pPr>
            <a:r>
              <a:rPr sz="1700" b="0" i="0">
                <a:solidFill>
                  <a:srgbClr val="F0B429"/>
                </a:solidFill>
                <a:latin typeface="Consolas"/>
              </a:rPr>
              <a:t>Insufficient reactor output: Engines requested 60%, only 25%</a:t>
            </a:r>
          </a:p>
          <a:p>
            <a:pPr algn="l">
              <a:lnSpc>
                <a:spcPct val="100000"/>
              </a:lnSpc>
              <a:spcAft>
                <a:spcPts val="0"/>
              </a:spcAft>
            </a:pPr>
            <a:r>
              <a:rPr sz="1700" b="0" i="0">
                <a:solidFill>
                  <a:srgbClr val="F0B429"/>
                </a:solidFill>
                <a:latin typeface="Consolas"/>
              </a:rPr>
              <a:t>is unallocated. Reduce another system first.</a:t>
            </a:r>
          </a:p>
        </p:txBody>
      </p:sp>
      <p:sp>
        <p:nvSpPr>
          <p:cNvPr id="6" name="TextBox 5"/>
          <p:cNvSpPr txBox="1"/>
          <p:nvPr/>
        </p:nvSpPr>
        <p:spPr>
          <a:xfrm>
            <a:off x="777240" y="3383280"/>
            <a:ext cx="10637215" cy="1463040"/>
          </a:xfrm>
          <a:prstGeom prst="rect">
            <a:avLst/>
          </a:prstGeom>
          <a:noFill/>
        </p:spPr>
        <p:txBody>
          <a:bodyPr wrap="square" anchor="t" lIns="0" rIns="0" tIns="0" bIns="0">
            <a:spAutoFit/>
          </a:bodyPr>
          <a:lstStyle/>
          <a:p>
            <a:pPr algn="l">
              <a:lnSpc>
                <a:spcPct val="135000"/>
              </a:lnSpc>
              <a:spcAft>
                <a:spcPts val="1600"/>
              </a:spcAft>
            </a:pPr>
            <a:r>
              <a:rPr sz="2400" b="0" i="0">
                <a:solidFill>
                  <a:srgbClr val="8B949E"/>
                </a:solidFill>
                <a:latin typeface="Segoe UI"/>
              </a:rPr>
              <a:t>A tool that throws hands the model a stack trace.</a:t>
            </a:r>
          </a:p>
          <a:p>
            <a:pPr algn="l">
              <a:lnSpc>
                <a:spcPct val="135000"/>
              </a:lnSpc>
              <a:spcAft>
                <a:spcPts val="1600"/>
              </a:spcAft>
            </a:pPr>
            <a:r>
              <a:rPr sz="2400" b="1" i="0">
                <a:solidFill>
                  <a:srgbClr val="E6EDF3"/>
                </a:solidFill>
                <a:latin typeface="Segoe UI"/>
              </a:rPr>
              <a:t>A tool that answers like that hands it something to re-plan from.</a:t>
            </a:r>
          </a:p>
        </p:txBody>
      </p:sp>
      <p:sp>
        <p:nvSpPr>
          <p:cNvPr id="7" name="Rectangle 6"/>
          <p:cNvSpPr/>
          <p:nvPr/>
        </p:nvSpPr>
        <p:spPr>
          <a:xfrm>
            <a:off x="777240" y="4846320"/>
            <a:ext cx="54864" cy="98831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846320"/>
            <a:ext cx="10225735" cy="988314"/>
          </a:xfrm>
          <a:prstGeom prst="rect">
            <a:avLst/>
          </a:prstGeom>
          <a:noFill/>
        </p:spPr>
        <p:txBody>
          <a:bodyPr wrap="square" anchor="t" lIns="0" rIns="0" tIns="0" bIns="0">
            <a:spAutoFit/>
          </a:bodyPr>
          <a:lstStyle/>
          <a:p>
            <a:pPr algn="l">
              <a:lnSpc>
                <a:spcPct val="125000"/>
              </a:lnSpc>
              <a:spcAft>
                <a:spcPts val="400"/>
              </a:spcAft>
            </a:pPr>
            <a:r>
              <a:rPr sz="1700" b="0" i="1">
                <a:solidFill>
                  <a:srgbClr val="E6EDF3"/>
                </a:solidFill>
                <a:latin typeface="Segoe UI"/>
              </a:rPr>
              <a:t>"When a tool refuses, read the refusal. It tells you what the ship</a:t>
            </a:r>
          </a:p>
          <a:p>
            <a:pPr algn="l">
              <a:lnSpc>
                <a:spcPct val="125000"/>
              </a:lnSpc>
              <a:spcAft>
                <a:spcPts val="400"/>
              </a:spcAft>
            </a:pPr>
            <a:r>
              <a:rPr sz="1700" b="0" i="1">
                <a:solidFill>
                  <a:srgbClr val="E6EDF3"/>
                </a:solidFill>
                <a:latin typeface="Segoe UI"/>
              </a:rPr>
              <a:t> actually needs — insufficient reactor output means find the power,</a:t>
            </a:r>
          </a:p>
          <a:p>
            <a:pPr algn="l">
              <a:lnSpc>
                <a:spcPct val="125000"/>
              </a:lnSpc>
              <a:spcAft>
                <a:spcPts val="400"/>
              </a:spcAft>
            </a:pPr>
            <a:r>
              <a:rPr sz="1700" b="0" i="1">
                <a:solidFill>
                  <a:srgbClr val="E6EDF3"/>
                </a:solidFill>
                <a:latin typeface="Segoe UI"/>
              </a:rPr>
              <a:t> not call again and hope."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TAKE THESE HOME</a:t>
            </a:r>
          </a:p>
        </p:txBody>
      </p:sp>
      <p:sp>
        <p:nvSpPr>
          <p:cNvPr id="3" name="TextBox 2"/>
          <p:cNvSpPr txBox="1"/>
          <p:nvPr/>
        </p:nvSpPr>
        <p:spPr>
          <a:xfrm>
            <a:off x="777240" y="86868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Five things</a:t>
            </a:r>
          </a:p>
        </p:txBody>
      </p:sp>
      <p:sp>
        <p:nvSpPr>
          <p:cNvPr id="4" name="TextBox 3"/>
          <p:cNvSpPr txBox="1"/>
          <p:nvPr/>
        </p:nvSpPr>
        <p:spPr>
          <a:xfrm>
            <a:off x="777240" y="1965960"/>
            <a:ext cx="10637215" cy="4343400"/>
          </a:xfrm>
          <a:prstGeom prst="rect">
            <a:avLst/>
          </a:prstGeom>
          <a:noFill/>
        </p:spPr>
        <p:txBody>
          <a:bodyPr wrap="square" anchor="t" lIns="0" rIns="0" tIns="0" bIns="0">
            <a:spAutoFit/>
          </a:bodyPr>
          <a:lstStyle/>
          <a:p>
            <a:pPr algn="l" marL="310896" indent="-310896">
              <a:lnSpc>
                <a:spcPct val="110000"/>
              </a:lnSpc>
              <a:spcAft>
                <a:spcPts val="1600"/>
              </a:spcAft>
            </a:pPr>
            <a:r>
              <a:rPr sz="2000" b="1" i="0">
                <a:solidFill>
                  <a:srgbClr val="F0B429"/>
                </a:solidFill>
                <a:latin typeface="Segoe UI"/>
              </a:rPr>
              <a:t>▸  </a:t>
            </a:r>
            <a:r>
              <a:rPr sz="2000" b="1" i="0">
                <a:solidFill>
                  <a:srgbClr val="E6EDF3"/>
                </a:solidFill>
                <a:latin typeface="Segoe UI"/>
              </a:rPr>
              <a:t>Constrain verbs, not just nouns.</a:t>
            </a:r>
            <a:r>
              <a:rPr sz="2000" b="0" i="0">
                <a:solidFill>
                  <a:srgbClr val="8B949E"/>
                </a:solidFill>
                <a:latin typeface="Segoe UI"/>
              </a:rPr>
              <a:t>  “Don't invent readings” does not stop it inventing actions.</a:t>
            </a:r>
          </a:p>
          <a:p>
            <a:pPr algn="l" marL="310896" indent="-310896">
              <a:lnSpc>
                <a:spcPct val="110000"/>
              </a:lnSpc>
              <a:spcAft>
                <a:spcPts val="1600"/>
              </a:spcAft>
            </a:pPr>
            <a:r>
              <a:rPr sz="2000" b="1" i="0">
                <a:solidFill>
                  <a:srgbClr val="F0B429"/>
                </a:solidFill>
                <a:latin typeface="Segoe UI"/>
              </a:rPr>
              <a:t>▸  </a:t>
            </a:r>
            <a:r>
              <a:rPr sz="2000" b="1" i="0">
                <a:solidFill>
                  <a:srgbClr val="E6EDF3"/>
                </a:solidFill>
                <a:latin typeface="Segoe UI"/>
              </a:rPr>
              <a:t>Tell it what changed; let it ask for the rest.</a:t>
            </a:r>
            <a:r>
              <a:rPr sz="2000" b="0" i="0">
                <a:solidFill>
                  <a:srgbClr val="8B949E"/>
                </a:solidFill>
                <a:latin typeface="Segoe UI"/>
              </a:rPr>
              <a:t>  An agent will never ask about something it does not know has happened.</a:t>
            </a:r>
          </a:p>
          <a:p>
            <a:pPr algn="l" marL="310896" indent="-310896">
              <a:lnSpc>
                <a:spcPct val="110000"/>
              </a:lnSpc>
              <a:spcAft>
                <a:spcPts val="1600"/>
              </a:spcAft>
            </a:pPr>
            <a:r>
              <a:rPr sz="2000" b="1" i="0">
                <a:solidFill>
                  <a:srgbClr val="F0B429"/>
                </a:solidFill>
                <a:latin typeface="Segoe UI"/>
              </a:rPr>
              <a:t>▸  </a:t>
            </a:r>
            <a:r>
              <a:rPr sz="2000" b="1" i="0">
                <a:solidFill>
                  <a:srgbClr val="E6EDF3"/>
                </a:solidFill>
                <a:latin typeface="Segoe UI"/>
              </a:rPr>
              <a:t>Read the defaults as decisions you have not made yet.</a:t>
            </a:r>
            <a:r>
              <a:rPr sz="2000" b="0" i="0">
                <a:solidFill>
                  <a:srgbClr val="8B949E"/>
                </a:solidFill>
                <a:latin typeface="Segoe UI"/>
              </a:rPr>
              <a:t>  Three providers were on before I chose anything; two wrote to disk.</a:t>
            </a:r>
          </a:p>
          <a:p>
            <a:pPr algn="l" marL="310896" indent="-310896">
              <a:lnSpc>
                <a:spcPct val="110000"/>
              </a:lnSpc>
              <a:spcAft>
                <a:spcPts val="1600"/>
              </a:spcAft>
            </a:pPr>
            <a:r>
              <a:rPr sz="2000" b="1" i="0">
                <a:solidFill>
                  <a:srgbClr val="F0B429"/>
                </a:solidFill>
                <a:latin typeface="Segoe UI"/>
              </a:rPr>
              <a:t>▸  </a:t>
            </a:r>
            <a:r>
              <a:rPr sz="2000" b="1" i="0">
                <a:solidFill>
                  <a:srgbClr val="E6EDF3"/>
                </a:solidFill>
                <a:latin typeface="Segoe UI"/>
              </a:rPr>
              <a:t>Gate by consequence, not category.</a:t>
            </a:r>
            <a:r>
              <a:rPr sz="2000" b="0" i="0">
                <a:solidFill>
                  <a:srgbClr val="8B949E"/>
                </a:solidFill>
                <a:latin typeface="Segoe UI"/>
              </a:rPr>
              <a:t>  And make the gate say who is standing in the room.</a:t>
            </a:r>
          </a:p>
          <a:p>
            <a:pPr algn="l" marL="310896" indent="-310896">
              <a:lnSpc>
                <a:spcPct val="110000"/>
              </a:lnSpc>
              <a:spcAft>
                <a:spcPts val="1600"/>
              </a:spcAft>
            </a:pPr>
            <a:r>
              <a:rPr sz="2000" b="1" i="0">
                <a:solidFill>
                  <a:srgbClr val="F0B429"/>
                </a:solidFill>
                <a:latin typeface="Segoe UI"/>
              </a:rPr>
              <a:t>▸  </a:t>
            </a:r>
            <a:r>
              <a:rPr sz="2000" b="1" i="0">
                <a:solidFill>
                  <a:srgbClr val="E6EDF3"/>
                </a:solidFill>
                <a:latin typeface="Segoe UI"/>
              </a:rPr>
              <a:t>Keep the domain free of the framework.</a:t>
            </a:r>
            <a:r>
              <a:rPr sz="2000" b="0" i="0">
                <a:solidFill>
                  <a:srgbClr val="8B949E"/>
                </a:solidFill>
                <a:latin typeface="Segoe UI"/>
              </a:rPr>
              <a:t>  It is what makes any of this testable, repeatable, and honest.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0"/>
            <a:ext cx="10637215" cy="2286000"/>
          </a:xfrm>
          <a:prstGeom prst="rect">
            <a:avLst/>
          </a:prstGeom>
          <a:noFill/>
        </p:spPr>
        <p:txBody>
          <a:bodyPr wrap="square" anchor="t" lIns="0" rIns="0" tIns="0" bIns="0">
            <a:spAutoFit/>
          </a:bodyPr>
          <a:lstStyle/>
          <a:p>
            <a:pPr algn="l">
              <a:lnSpc>
                <a:spcPct val="115000"/>
              </a:lnSpc>
              <a:spcAft>
                <a:spcPts val="3000"/>
              </a:spcAft>
            </a:pPr>
            <a:r>
              <a:rPr sz="4400" b="1" i="0">
                <a:solidFill>
                  <a:srgbClr val="E6EDF3"/>
                </a:solidFill>
                <a:latin typeface="Segoe UI"/>
              </a:rPr>
              <a:t>A harness gives you a
competent-sounding officer for free.</a:t>
            </a:r>
          </a:p>
          <a:p>
            <a:pPr algn="l">
              <a:lnSpc>
                <a:spcPct val="115000"/>
              </a:lnSpc>
              <a:spcAft>
                <a:spcPts val="3000"/>
              </a:spcAft>
            </a:pPr>
            <a:r>
              <a:rPr sz="4400" b="0" i="0">
                <a:solidFill>
                  <a:srgbClr val="F0B429"/>
                </a:solidFill>
                <a:latin typeface="Segoe UI"/>
              </a:rPr>
              <a:t>Trustworthy is the part you build.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THANK YOU</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Everything is in the repo</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github.com/…/ship-ai-harness</a:t>
            </a:r>
            <a:r>
              <a:rPr sz="2100" b="0" i="0">
                <a:solidFill>
                  <a:srgbClr val="8B949E"/>
                </a:solidFill>
                <a:latin typeface="Segoe UI"/>
              </a:rPr>
              <a:t>  — the whole ship, 38 tests, run it yourself</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docs/gotchas.md</a:t>
            </a:r>
            <a:r>
              <a:rPr sz="2100" b="0" i="0">
                <a:solidFill>
                  <a:srgbClr val="8B949E"/>
                </a:solidFill>
                <a:latin typeface="Segoe UI"/>
              </a:rPr>
              <a:t>  — every trap in this talk: expected, actual, what to do</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docs/architecture.md</a:t>
            </a:r>
            <a:r>
              <a:rPr sz="2100" b="0" i="0">
                <a:solidFill>
                  <a:srgbClr val="8B949E"/>
                </a:solidFill>
                <a:latin typeface="Segoe UI"/>
              </a:rPr>
              <a:t>  — layering, state ownership, approval tiers</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docs/milestones.md</a:t>
            </a:r>
            <a:r>
              <a:rPr sz="2100" b="0" i="0">
                <a:solidFill>
                  <a:srgbClr val="8B949E"/>
                </a:solidFill>
                <a:latin typeface="Segoe UI"/>
              </a:rPr>
              <a:t>  — what is built, what is next, what each post covers</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Blog series</a:t>
            </a:r>
            <a:r>
              <a:rPr sz="2100" b="0" i="0">
                <a:solidFill>
                  <a:srgbClr val="8B949E"/>
                </a:solidFill>
                <a:latin typeface="Segoe UI"/>
              </a:rPr>
              <a:t>  — in progress; milestone 1 is tagged post-1</a:t>
            </a:r>
          </a:p>
        </p:txBody>
      </p:sp>
      <p:sp>
        <p:nvSpPr>
          <p:cNvPr id="5" name="Rectangle 4"/>
          <p:cNvSpPr/>
          <p:nvPr/>
        </p:nvSpPr>
        <p:spPr>
          <a:xfrm>
            <a:off x="777240" y="51206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440680"/>
            <a:ext cx="10637215" cy="731520"/>
          </a:xfrm>
          <a:prstGeom prst="rect">
            <a:avLst/>
          </a:prstGeom>
          <a:noFill/>
        </p:spPr>
        <p:txBody>
          <a:bodyPr wrap="square" anchor="t" lIns="0" rIns="0" tIns="0" bIns="0">
            <a:spAutoFit/>
          </a:bodyPr>
          <a:lstStyle/>
          <a:p>
            <a:pPr algn="l">
              <a:lnSpc>
                <a:spcPct val="115000"/>
              </a:lnSpc>
              <a:spcAft>
                <a:spcPts val="800"/>
              </a:spcAft>
            </a:pPr>
            <a:r>
              <a:rPr sz="3400" b="1" i="0">
                <a:solidFill>
                  <a:srgbClr val="F0B429"/>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